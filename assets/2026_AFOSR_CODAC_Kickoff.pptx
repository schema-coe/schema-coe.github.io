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549" r:id="rId3"/>
    <p:sldId id="550" r:id="rId4"/>
    <p:sldId id="551" r:id="rId5"/>
    <p:sldId id="265" r:id="rId6"/>
    <p:sldId id="266" r:id="rId7"/>
    <p:sldId id="306" r:id="rId8"/>
    <p:sldId id="270" r:id="rId9"/>
    <p:sldId id="271" r:id="rId10"/>
    <p:sldId id="263" r:id="rId11"/>
    <p:sldId id="272" r:id="rId12"/>
    <p:sldId id="273" r:id="rId13"/>
    <p:sldId id="274" r:id="rId14"/>
    <p:sldId id="275" r:id="rId15"/>
    <p:sldId id="276" r:id="rId16"/>
    <p:sldId id="307" r:id="rId17"/>
    <p:sldId id="279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3" r:id="rId29"/>
    <p:sldId id="291" r:id="rId30"/>
    <p:sldId id="297" r:id="rId31"/>
    <p:sldId id="294" r:id="rId32"/>
    <p:sldId id="296" r:id="rId33"/>
    <p:sldId id="298" r:id="rId34"/>
    <p:sldId id="299" r:id="rId35"/>
    <p:sldId id="300" r:id="rId36"/>
    <p:sldId id="308" r:id="rId37"/>
    <p:sldId id="301" r:id="rId38"/>
    <p:sldId id="302" r:id="rId39"/>
    <p:sldId id="303" r:id="rId40"/>
    <p:sldId id="309" r:id="rId41"/>
    <p:sldId id="304" r:id="rId42"/>
    <p:sldId id="305" r:id="rId43"/>
    <p:sldId id="311" r:id="rId44"/>
    <p:sldId id="312" r:id="rId45"/>
    <p:sldId id="313" r:id="rId46"/>
    <p:sldId id="314" r:id="rId47"/>
    <p:sldId id="548" r:id="rId48"/>
    <p:sldId id="310" r:id="rId49"/>
    <p:sldId id="295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4E92CD"/>
    <a:srgbClr val="929292"/>
    <a:srgbClr val="F54A4B"/>
    <a:srgbClr val="DD5300"/>
    <a:srgbClr val="B70722"/>
    <a:srgbClr val="D6F0FD"/>
    <a:srgbClr val="BFE4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23"/>
    <p:restoredTop sz="89160"/>
  </p:normalViewPr>
  <p:slideViewPr>
    <p:cSldViewPr snapToGrid="0">
      <p:cViewPr varScale="1">
        <p:scale>
          <a:sx n="151" d="100"/>
          <a:sy n="151" d="100"/>
        </p:scale>
        <p:origin x="10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581C7-A688-B74B-AB66-5053F3D9DE96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CDFDD-6402-974B-9989-DC8532DB1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70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41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minute. Walk the figure clockwise, and say the co-design sentence at the bottom slowly. It is the spine of everything that follows. Two theme leads speak later this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25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an awkward slide. Already introduce the decomposition of pi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41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policy decomposition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9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82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an awkward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45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an awkward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44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61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alpha_1, alpha_2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Design </a:t>
            </a:r>
            <a:r>
              <a:rPr lang="en-US" dirty="0" err="1"/>
              <a:t>pi_hat</a:t>
            </a:r>
            <a:r>
              <a:rPr lang="en-US" dirty="0"/>
              <a:t> such that SGC is satisfied -&gt; Stability condition for a given design approximation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Must hold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This was an awkward slide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that L is design dependent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83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Omit performance function, but under similar smoothness conditions as on the cost, we can similarly bound R in terms of the design-</a:t>
            </a:r>
            <a:r>
              <a:rPr lang="en-US" dirty="0" err="1"/>
              <a:t>dpendent</a:t>
            </a:r>
            <a:r>
              <a:rPr lang="en-US" dirty="0"/>
              <a:t> </a:t>
            </a:r>
            <a:r>
              <a:rPr lang="en-US" dirty="0" err="1"/>
              <a:t>sectorbounds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9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776A-E4B6-C1E7-862C-A701F721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5A9BE-D914-7731-7F31-E32E93E82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007D0-786A-83DA-6535-3EC16AB53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we simply rewrote the small gain condition for the sum of L’s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324D8-5369-A97C-3C67-7BCD7ABEB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88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ACF0C-D5FE-2CBA-3A73-50B2AEF9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B5C78-1E78-8E17-8047-EAE308717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84ADB-D0E8-67CD-F467-E4A4835FB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only the design dependent sector bounds: rather easy to optimize over! </a:t>
            </a:r>
          </a:p>
          <a:p>
            <a:r>
              <a:rPr lang="en-US" dirty="0"/>
              <a:t>Mention rho dependence in paper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E10B9-625C-00B0-D2A3-4995206F1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30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46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DFDD-6402-974B-9989-DC8532DB1B8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34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3FFC-965B-8385-5CBE-700487023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2363"/>
            <a:ext cx="10515599" cy="2387600"/>
          </a:xfrm>
        </p:spPr>
        <p:txBody>
          <a:bodyPr anchor="b"/>
          <a:lstStyle>
            <a:lvl1pPr algn="l">
              <a:defRPr sz="6000" b="1" i="0" spc="-15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DE1E1-E18A-E5D0-3A87-DB33B3336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10515600" cy="1655762"/>
          </a:xfrm>
        </p:spPr>
        <p:txBody>
          <a:bodyPr/>
          <a:lstStyle>
            <a:lvl1pPr marL="0" indent="0" algn="l">
              <a:buNone/>
              <a:defRPr sz="2400" b="0" i="0" spc="-15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ED010D-3292-9F1E-4FF5-4B5432CD59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6356350"/>
            <a:ext cx="10515599" cy="365124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lumMod val="50000"/>
                  </a:schemeClr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1214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A192-C9B5-D4C3-0AAA-9467766EA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AF0B-459E-847B-E160-DEF585265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FC23A-E826-4D2E-B80B-A9378181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Sept. 24,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72023-F4D5-4AB2-CE34-B5A73AF2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9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CB69-F59C-5721-38E3-F7EC7038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spc="-15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3E42-E2B5-B52C-0986-C03A83412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4FCD8-D142-AAB3-656C-E9C7DE47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Sept. 23,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8D2E4-48F3-D1CD-0A86-02DC7F9C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Tradeoffs in Control Design - C. Verhoek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98349-EA8F-2B6E-373B-F58F99FC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4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BB19-DD3B-AC55-6B2C-050AA514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BAC10-83AD-FC6E-F0ED-197BD67A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9D148-4B5D-60E4-24F1-56A0CA5F8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912F1-DBA4-D270-18D1-5426FDCA8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Sept. 23,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7BCE9-287A-390B-9280-B61FF2E3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Tradeoffs in Control Design - C. Verhoek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2AFEE-BEA4-999D-5724-7997FFDA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2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5F61-592B-E716-F1E4-EF786C0E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2563E-B61E-A760-720B-CE65DC3C9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C36BE-78C7-2EBD-9A32-9A22D9261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034307-D73E-7FA7-2DFD-9B085037E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D43C69-24BA-96EE-2F91-4917A70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49D22C-4066-B837-7A54-CFCB53971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Sept. 23,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2A9D-AF3C-D0E2-E3D3-05BB21F9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Tradeoffs in Control Design - C. Verhoek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E1F8D-AF9D-5BB0-6368-E009BD76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29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662D-F045-ED96-CFD5-E36B72FD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03F459-046E-1466-285D-78C739CD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Sept. 23,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FBFC1-BA48-068C-CC4E-3A223C1AD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Tradeoffs in Control Design - C. Verhoek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195F0-C513-F8CD-4045-E1705260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8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45B5DF-6A79-3C2E-1F4E-B89E2F0C6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Sept. 23,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7737A-7EFE-13BC-A640-A782B58FC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Tradeoffs in Control Design - C. Verhoek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9D66A-64FB-2D9C-AA26-3E00BFFD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3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3212-DF56-B783-7AB2-04D08DFD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A2134-C317-F87B-0045-1CA99E7A6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ED65E-3479-4412-E201-2FF639FC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761B6-F0E2-8F4C-0568-9715DAE8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Sept. 23,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4FF7E-EEB6-D263-A55F-DF57BBAE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Tradeoffs in Control Design - C. Verhoek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1D5DA-D1AF-B5DB-3259-E5DF1D13C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78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8FA2D-C415-6181-7B92-6F418052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CDBF7-3505-0AC9-638D-A0E443934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2970B-AE4A-A027-E972-83098C55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677F4-4004-B83C-0D73-0CD6070F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Sept. 23,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AA06F-C2C7-41B7-8A9E-746121777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Tradeoffs in Control Design - C. Verhoek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0A0F8-06EA-963A-F0BF-294406B3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3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72CE-56C6-5642-F49B-54C2FEE1A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135B2-1C9F-373A-85FF-DFC3D93A4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54471-4E2B-8778-2CDA-657BB551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Sept. 23,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7832B-F06B-33B1-77EA-4B7C7F4A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Tradeoffs in Control Design - C. Verhoek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B0866-5B5C-53F2-151B-1BF233E5B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46D67-F9C7-A8FB-9D3B-4A6344A3D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1DF6C-84E8-5E6B-777E-695F585A2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77AF4-1B16-FFD7-210F-235A379D5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Sept. 23,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12DEC-F464-B9A0-6A74-E372D213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Tradeoffs in Control Design - C. Verhoek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6DD6A-9342-18CA-6B8F-57FC7178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32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13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A9504E-4AB3-658C-A5B4-39990597E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447"/>
            <a:ext cx="10515600" cy="11962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1564D-56CE-520A-A298-A24ED64C5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47B6B-30E4-B0AA-EEEC-65A448BF8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Sept. 23,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6BA64-E295-3675-0FEF-8F8A2FC67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Tradeoffs in Control Design - C. Verhoek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AB82F-C913-E195-C96C-B33C3B754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defRPr>
            </a:lvl1pPr>
          </a:lstStyle>
          <a:p>
            <a:fld id="{946E6057-9092-A945-AE43-3FDE071B5E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9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-15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5.emf"/><Relationship Id="rId7" Type="http://schemas.openxmlformats.org/officeDocument/2006/relationships/image" Target="../media/image39.emf"/><Relationship Id="rId12" Type="http://schemas.openxmlformats.org/officeDocument/2006/relationships/image" Target="../media/image4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11" Type="http://schemas.openxmlformats.org/officeDocument/2006/relationships/image" Target="../media/image43.emf"/><Relationship Id="rId5" Type="http://schemas.openxmlformats.org/officeDocument/2006/relationships/image" Target="../media/image37.emf"/><Relationship Id="rId10" Type="http://schemas.openxmlformats.org/officeDocument/2006/relationships/image" Target="../media/image42.emf"/><Relationship Id="rId4" Type="http://schemas.openxmlformats.org/officeDocument/2006/relationships/image" Target="../media/image36.emf"/><Relationship Id="rId9" Type="http://schemas.openxmlformats.org/officeDocument/2006/relationships/image" Target="../media/image4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image" Target="../media/image50.emf"/><Relationship Id="rId7" Type="http://schemas.openxmlformats.org/officeDocument/2006/relationships/image" Target="../media/image5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image" Target="../media/image60.emf"/><Relationship Id="rId7" Type="http://schemas.openxmlformats.org/officeDocument/2006/relationships/image" Target="../media/image6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4" Type="http://schemas.openxmlformats.org/officeDocument/2006/relationships/image" Target="../media/image61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image" Target="../media/image67.png"/><Relationship Id="rId7" Type="http://schemas.openxmlformats.org/officeDocument/2006/relationships/image" Target="../media/image7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emf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FC51-1B6F-E030-4E90-66FE18BB0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063" y="1028090"/>
            <a:ext cx="10965874" cy="1526784"/>
          </a:xfrm>
        </p:spPr>
        <p:txBody>
          <a:bodyPr>
            <a:noAutofit/>
          </a:bodyPr>
          <a:lstStyle/>
          <a:p>
            <a:pPr algn="ctr"/>
            <a:r>
              <a:rPr lang="en-US" sz="4600" dirty="0"/>
              <a:t>Navigating Controller Design </a:t>
            </a:r>
            <a:r>
              <a:rPr lang="en-US" sz="4600" dirty="0">
                <a:solidFill>
                  <a:srgbClr val="C00000"/>
                </a:solidFill>
              </a:rPr>
              <a:t>Tradeoffs</a:t>
            </a:r>
            <a:r>
              <a:rPr lang="en-US" sz="4600" dirty="0"/>
              <a:t> under </a:t>
            </a:r>
            <a:r>
              <a:rPr lang="en-US" sz="4600" dirty="0">
                <a:solidFill>
                  <a:srgbClr val="0070C0"/>
                </a:solidFill>
              </a:rPr>
              <a:t>Computational Constraints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86DC3-EF9E-CDE0-EA4F-A06CB3C52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063" y="2900948"/>
            <a:ext cx="10515600" cy="278733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2800" spc="-100" dirty="0"/>
              <a:t>Nikolai Matni</a:t>
            </a:r>
          </a:p>
          <a:p>
            <a:pPr algn="ctr"/>
            <a:br>
              <a:rPr lang="en-US" sz="2800" spc="-100" baseline="30000" dirty="0"/>
            </a:br>
            <a:r>
              <a:rPr lang="en-US" sz="2800" spc="-100" baseline="30000" dirty="0"/>
              <a:t>Associate Professor</a:t>
            </a:r>
            <a:br>
              <a:rPr lang="en-US" sz="2800" spc="-100" baseline="30000" dirty="0"/>
            </a:br>
            <a:r>
              <a:rPr lang="en-US" sz="2800" spc="-100" baseline="30000" dirty="0"/>
              <a:t>Department of Electrical and Systems Engineering</a:t>
            </a:r>
            <a:br>
              <a:rPr lang="en-US" sz="2800" spc="-100" baseline="30000" dirty="0"/>
            </a:br>
            <a:r>
              <a:rPr lang="en-US" sz="2800" spc="-100" baseline="30000" dirty="0"/>
              <a:t>University of Pennsylvania </a:t>
            </a:r>
          </a:p>
          <a:p>
            <a:endParaRPr lang="en-US" sz="2800" spc="-100" baseline="30000" dirty="0"/>
          </a:p>
          <a:p>
            <a:pPr algn="ctr">
              <a:lnSpc>
                <a:spcPct val="118000"/>
              </a:lnSpc>
            </a:pPr>
            <a:r>
              <a:rPr lang="en-US" sz="2800" dirty="0">
                <a:solidFill>
                  <a:srgbClr val="11111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CODAC University Center of Excellence Kickoff  </a:t>
            </a:r>
            <a:br>
              <a:rPr lang="en-US" sz="2800" dirty="0">
                <a:solidFill>
                  <a:srgbClr val="11111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dirty="0">
                <a:solidFill>
                  <a:srgbClr val="55555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24 September 2026  ·  Van </a:t>
            </a:r>
            <a:r>
              <a:rPr lang="en-US" dirty="0" err="1">
                <a:solidFill>
                  <a:srgbClr val="55555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Metre</a:t>
            </a:r>
            <a:r>
              <a:rPr lang="en-US" dirty="0">
                <a:solidFill>
                  <a:srgbClr val="55555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Hall, George Mason University, Arlington VA</a:t>
            </a:r>
            <a:endParaRPr lang="en-US" sz="2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2800" spc="-100" baseline="30000" dirty="0"/>
          </a:p>
        </p:txBody>
      </p:sp>
      <p:pic>
        <p:nvPicPr>
          <p:cNvPr id="4" name="Immagine 14">
            <a:extLst>
              <a:ext uri="{FF2B5EF4-FFF2-40B4-BE49-F238E27FC236}">
                <a16:creationId xmlns:a16="http://schemas.microsoft.com/office/drawing/2014/main" id="{C8753717-9F64-2B60-4527-B16A9FAEA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7591" y="5688281"/>
            <a:ext cx="1184409" cy="1184409"/>
          </a:xfrm>
          <a:prstGeom prst="rect">
            <a:avLst/>
          </a:prstGeom>
        </p:spPr>
      </p:pic>
      <p:pic>
        <p:nvPicPr>
          <p:cNvPr id="5" name="Picture 4" descr="Penn Engineering">
            <a:extLst>
              <a:ext uri="{FF2B5EF4-FFF2-40B4-BE49-F238E27FC236}">
                <a16:creationId xmlns:a16="http://schemas.microsoft.com/office/drawing/2014/main" id="{24AA5E02-B7C0-A924-942D-89BD88137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2" y="5976620"/>
            <a:ext cx="24130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9961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Three themes, one formalism, three directions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The same co-design language applied across agents, down through layers, and to the decomposition itself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2697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4E9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Theme A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Horizontal composition</a:t>
            </a:r>
            <a:endParaRPr lang="en-US" sz="1200" dirty="0"/>
          </a:p>
          <a:p>
            <a:pPr marL="0" indent="0"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150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Heterogeneous agents and infrastructure composed sideways. Categorical co-design, contracts, uncertainty-aware optimization.</a:t>
            </a:r>
            <a:endParaRPr lang="en-US" sz="1150" dirty="0"/>
          </a:p>
          <a:p>
            <a:pPr marL="0" indent="0" algn="l">
              <a:lnSpc>
                <a:spcPct val="108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1F4E9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Theme B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Vertical composition</a:t>
            </a:r>
            <a:endParaRPr lang="en-US" sz="1200" dirty="0"/>
          </a:p>
          <a:p>
            <a:pPr marL="0" indent="0"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150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Objectives that stay feasible and safe when handed to one agent. Layered control with reduced-order models, consistent across layers.</a:t>
            </a:r>
            <a:endParaRPr lang="en-US" sz="1150" dirty="0"/>
          </a:p>
          <a:p>
            <a:pPr marL="0" indent="0" algn="l">
              <a:lnSpc>
                <a:spcPct val="108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1F4E9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Theme C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Unified composition</a:t>
            </a:r>
            <a:endParaRPr lang="en-US" sz="1200" dirty="0"/>
          </a:p>
          <a:p>
            <a:pPr marL="0" indent="0"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150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Global and local integration in one meta-model. Compositional Pareto optimality across layers and agents, and the metrics for it.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006840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555555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THE FIVE CHALLENGES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06840" y="1444752"/>
            <a:ext cx="2514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9" name="Text 7"/>
          <p:cNvSpPr txBox="1"/>
          <p:nvPr/>
        </p:nvSpPr>
        <p:spPr>
          <a:xfrm>
            <a:off x="9006840" y="15727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9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C1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464040" y="1572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Scale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19568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9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C2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464040" y="19568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Heterogeneity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23408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9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C3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464040" y="23408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Partial specifications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724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9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C4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464040" y="27249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Decentralization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3108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9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C5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3108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Context dependence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A carries C1, C2 and C3.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B carries C1, C2, C4 and C5.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C spans all five.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4526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i="1" dirty="0">
                <a:solidFill>
                  <a:srgbClr val="555555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Each theme carries three tasks. X.1 theory, X.2 operationalization, X.3 scalability.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5074920"/>
            <a:ext cx="54864" cy="658368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2" name="Text 20"/>
          <p:cNvSpPr txBox="1"/>
          <p:nvPr/>
        </p:nvSpPr>
        <p:spPr>
          <a:xfrm>
            <a:off x="841248" y="50749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spc="150" dirty="0">
                <a:solidFill>
                  <a:srgbClr val="1F4E9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IN CO-DESIGN TERMS    </a:t>
            </a:r>
            <a:r>
              <a:rPr lang="en-US" sz="1220" dirty="0">
                <a:solidFill>
                  <a:srgbClr val="111111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a design problem is a monotone relation between functionality and resources, closed under series, parallel and feedback. A wires them sideways, B stacks them, C asks which wiring.</a:t>
            </a:r>
            <a:endParaRPr lang="en-US" sz="122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9893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1F4E9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The themes are three views of one object, and the interfaces between them are where the center earns its keep.</a:t>
            </a:r>
            <a:endParaRPr lang="en-US" sz="1450" dirty="0"/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AD5280B0-2D5B-2C0B-E004-40324D589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125268"/>
            <a:ext cx="5477435" cy="3784503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457EC1D-664D-16A5-216F-3E30B4388FEE}"/>
              </a:ext>
            </a:extLst>
          </p:cNvPr>
          <p:cNvSpPr/>
          <p:nvPr/>
        </p:nvSpPr>
        <p:spPr>
          <a:xfrm>
            <a:off x="7374577" y="1188720"/>
            <a:ext cx="1367266" cy="2516381"/>
          </a:xfrm>
          <a:prstGeom prst="roundRect">
            <a:avLst/>
          </a:prstGeom>
          <a:solidFill>
            <a:schemeClr val="accent1">
              <a:alpha val="497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CB1974-5893-F1CF-DBD6-D46119A124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08" r="44550" b="32458"/>
          <a:stretch>
            <a:fillRect/>
          </a:stretch>
        </p:blipFill>
        <p:spPr>
          <a:xfrm>
            <a:off x="141535" y="271401"/>
            <a:ext cx="4309754" cy="18020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AABA9F-EE40-E167-7658-EB6284B7F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95"/>
          <a:stretch>
            <a:fillRect/>
          </a:stretch>
        </p:blipFill>
        <p:spPr>
          <a:xfrm>
            <a:off x="463654" y="2264206"/>
            <a:ext cx="3665517" cy="439243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39CED0B-48E9-3818-947F-0CA39A0EEB45}"/>
              </a:ext>
            </a:extLst>
          </p:cNvPr>
          <p:cNvGrpSpPr/>
          <p:nvPr/>
        </p:nvGrpSpPr>
        <p:grpSpPr>
          <a:xfrm>
            <a:off x="5173951" y="2264206"/>
            <a:ext cx="6455310" cy="2551824"/>
            <a:chOff x="4750130" y="2109150"/>
            <a:chExt cx="6455310" cy="255182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77569FE-0C38-EF2F-A3C2-522A239BD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1435" y="2565912"/>
              <a:ext cx="5092700" cy="16383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7E3353C-D9C2-F2C5-14F4-3FA4C9FA1D69}"/>
                    </a:ext>
                  </a:extLst>
                </p:cNvPr>
                <p:cNvSpPr txBox="1"/>
                <p:nvPr/>
              </p:nvSpPr>
              <p:spPr>
                <a:xfrm>
                  <a:off x="4928796" y="2109150"/>
                  <a:ext cx="609797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200" dirty="0">
                      <a:solidFill>
                        <a:schemeClr val="tx1"/>
                      </a:solidFill>
                      <a:latin typeface="Helvetica Neue Light" panose="02000403000000020004" pitchFamily="2" charset="0"/>
                      <a:ea typeface="Helvetica Neue Light" panose="02000403000000020004" pitchFamily="2" charset="0"/>
                    </a:rPr>
                    <a:t>System trajectory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Helvetica Neue Light" panose="02000403000000020004" pitchFamily="2" charset="0"/>
                        </a:rPr>
                        <m:t>𝜉</m:t>
                      </m:r>
                    </m:oMath>
                  </a14:m>
                  <a:r>
                    <a:rPr lang="en-US" sz="2200" dirty="0">
                      <a:solidFill>
                        <a:schemeClr val="tx1"/>
                      </a:solidFill>
                      <a:latin typeface="Helvetica Neue Light" panose="02000403000000020004" pitchFamily="2" charset="0"/>
                      <a:ea typeface="Helvetica Neue Light" panose="02000403000000020004" pitchFamily="2" charset="0"/>
                    </a:rPr>
                    <a:t> should satisfy specification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Helvetica Neue Light" panose="02000403000000020004" pitchFamily="2" charset="0"/>
                        </a:rPr>
                        <m:t>𝜑</m:t>
                      </m:r>
                    </m:oMath>
                  </a14:m>
                  <a:endParaRPr lang="en-US" sz="2200" dirty="0">
                    <a:solidFill>
                      <a:schemeClr val="tx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7E3353C-D9C2-F2C5-14F4-3FA4C9FA1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8796" y="2109150"/>
                  <a:ext cx="6097978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832" t="-8571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FFABF6-97F9-9E52-1103-53FF0F18A63F}"/>
                </a:ext>
              </a:extLst>
            </p:cNvPr>
            <p:cNvSpPr txBox="1"/>
            <p:nvPr/>
          </p:nvSpPr>
          <p:spPr>
            <a:xfrm>
              <a:off x="4750130" y="4230087"/>
              <a:ext cx="645531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subject to continuous dynamics and &amp; constraints</a:t>
              </a:r>
              <a:endPara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4FC102C-9895-8FBF-6F70-8849BF043302}"/>
              </a:ext>
            </a:extLst>
          </p:cNvPr>
          <p:cNvSpPr txBox="1"/>
          <p:nvPr/>
        </p:nvSpPr>
        <p:spPr>
          <a:xfrm>
            <a:off x="5173951" y="1549382"/>
            <a:ext cx="6455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Intractable problem!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DA40EE1-B4AE-6672-C7C1-DB4C193B3E70}"/>
              </a:ext>
            </a:extLst>
          </p:cNvPr>
          <p:cNvGrpSpPr/>
          <p:nvPr/>
        </p:nvGrpSpPr>
        <p:grpSpPr>
          <a:xfrm>
            <a:off x="5173951" y="5099968"/>
            <a:ext cx="6455310" cy="482478"/>
            <a:chOff x="5263284" y="5099968"/>
            <a:chExt cx="6455310" cy="48247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DCF0B0-8E77-CE59-803F-1AC9003EA575}"/>
                </a:ext>
              </a:extLst>
            </p:cNvPr>
            <p:cNvSpPr txBox="1"/>
            <p:nvPr/>
          </p:nvSpPr>
          <p:spPr>
            <a:xfrm>
              <a:off x="5263284" y="5112668"/>
              <a:ext cx="64553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70C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Relax to layered control architecture</a:t>
              </a:r>
            </a:p>
          </p:txBody>
        </p:sp>
        <p:pic>
          <p:nvPicPr>
            <p:cNvPr id="17" name="Graphic 16" descr="Lights On with solid fill">
              <a:extLst>
                <a:ext uri="{FF2B5EF4-FFF2-40B4-BE49-F238E27FC236}">
                  <a16:creationId xmlns:a16="http://schemas.microsoft.com/office/drawing/2014/main" id="{96E6B664-EDA5-D286-B0F8-B3AA48FA0B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33492" y="5099968"/>
              <a:ext cx="482478" cy="4824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35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1A85F-AE7A-CB17-AD8C-12190825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FA12E2B-4C91-6DB9-8A88-80C6329611B4}"/>
              </a:ext>
            </a:extLst>
          </p:cNvPr>
          <p:cNvGrpSpPr/>
          <p:nvPr/>
        </p:nvGrpSpPr>
        <p:grpSpPr>
          <a:xfrm>
            <a:off x="4714504" y="522513"/>
            <a:ext cx="7117278" cy="1271693"/>
            <a:chOff x="4714504" y="522513"/>
            <a:chExt cx="7117278" cy="127169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724F0FB-8C81-3589-E1A5-3CEC268B99AA}"/>
                </a:ext>
              </a:extLst>
            </p:cNvPr>
            <p:cNvGrpSpPr/>
            <p:nvPr/>
          </p:nvGrpSpPr>
          <p:grpSpPr>
            <a:xfrm>
              <a:off x="4834082" y="635169"/>
              <a:ext cx="6997700" cy="1159037"/>
              <a:chOff x="5003306" y="635169"/>
              <a:chExt cx="6997700" cy="115903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D69FFD3-A9A4-7ACE-CE41-4CB9DDEC8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03306" y="917906"/>
                <a:ext cx="6997700" cy="8763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2CE0C8-65E1-968E-C6D2-28E9147B46EF}"/>
                  </a:ext>
                </a:extLst>
              </p:cNvPr>
              <p:cNvSpPr txBox="1"/>
              <p:nvPr/>
            </p:nvSpPr>
            <p:spPr>
              <a:xfrm>
                <a:off x="5274501" y="635169"/>
                <a:ext cx="64553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Helvetica Neue Light" panose="02000403000000020004" pitchFamily="2" charset="0"/>
                    <a:ea typeface="Helvetica Neue Light" panose="02000403000000020004" pitchFamily="2" charset="0"/>
                  </a:rPr>
                  <a:t>(Slow) Discrete state/action decision making</a:t>
                </a:r>
              </a:p>
            </p:txBody>
          </p:sp>
        </p:grp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2DC1A78-BBCA-C995-B4C7-B6560F4DF6D6}"/>
                </a:ext>
              </a:extLst>
            </p:cNvPr>
            <p:cNvSpPr/>
            <p:nvPr/>
          </p:nvSpPr>
          <p:spPr>
            <a:xfrm>
              <a:off x="4714504" y="522513"/>
              <a:ext cx="7117278" cy="1223160"/>
            </a:xfrm>
            <a:prstGeom prst="roundRect">
              <a:avLst/>
            </a:prstGeom>
            <a:solidFill>
              <a:srgbClr val="0070C0">
                <a:alpha val="33558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F18E417-0DC6-9C10-A4F2-DC3EB822362D}"/>
              </a:ext>
            </a:extLst>
          </p:cNvPr>
          <p:cNvGrpSpPr/>
          <p:nvPr/>
        </p:nvGrpSpPr>
        <p:grpSpPr>
          <a:xfrm>
            <a:off x="4774293" y="4656006"/>
            <a:ext cx="7117278" cy="2037294"/>
            <a:chOff x="4774293" y="4656006"/>
            <a:chExt cx="7117278" cy="203729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5F53583-9E63-5110-7A43-AF15A7A570FF}"/>
                </a:ext>
              </a:extLst>
            </p:cNvPr>
            <p:cNvGrpSpPr/>
            <p:nvPr/>
          </p:nvGrpSpPr>
          <p:grpSpPr>
            <a:xfrm>
              <a:off x="5105277" y="4660547"/>
              <a:ext cx="6455310" cy="2032753"/>
              <a:chOff x="5274501" y="4267605"/>
              <a:chExt cx="6455310" cy="203275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8B8E54D-B7D0-F10D-DDBA-0492D9ACE7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27619" y="4610059"/>
                <a:ext cx="5549075" cy="1690299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349A5F-4AA5-148D-D853-98FE6C3C03B2}"/>
                  </a:ext>
                </a:extLst>
              </p:cNvPr>
              <p:cNvSpPr txBox="1"/>
              <p:nvPr/>
            </p:nvSpPr>
            <p:spPr>
              <a:xfrm>
                <a:off x="5274501" y="4267605"/>
                <a:ext cx="64553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Helvetica Neue Light" panose="02000403000000020004" pitchFamily="2" charset="0"/>
                    <a:ea typeface="Helvetica Neue Light" panose="02000403000000020004" pitchFamily="2" charset="0"/>
                  </a:rPr>
                  <a:t>(Fast) Feedback Control</a:t>
                </a:r>
              </a:p>
            </p:txBody>
          </p:sp>
        </p:grp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6CC2B9DF-6D96-CD1D-787D-49C8ECA27865}"/>
                </a:ext>
              </a:extLst>
            </p:cNvPr>
            <p:cNvSpPr/>
            <p:nvPr/>
          </p:nvSpPr>
          <p:spPr>
            <a:xfrm>
              <a:off x="4774293" y="4656006"/>
              <a:ext cx="7117278" cy="2027594"/>
            </a:xfrm>
            <a:prstGeom prst="roundRect">
              <a:avLst/>
            </a:prstGeom>
            <a:solidFill>
              <a:schemeClr val="accent6">
                <a:lumMod val="75000"/>
                <a:alpha val="34112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9E1069B-41DF-8EFE-8FB6-C41FB8C0261D}"/>
              </a:ext>
            </a:extLst>
          </p:cNvPr>
          <p:cNvGrpSpPr/>
          <p:nvPr/>
        </p:nvGrpSpPr>
        <p:grpSpPr>
          <a:xfrm>
            <a:off x="4774293" y="1794206"/>
            <a:ext cx="7117278" cy="2861800"/>
            <a:chOff x="4774293" y="1794206"/>
            <a:chExt cx="7117278" cy="286180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A5DDFDC-00AB-4B30-B680-BF3C3608FD4D}"/>
                </a:ext>
              </a:extLst>
            </p:cNvPr>
            <p:cNvCxnSpPr>
              <a:stCxn id="6" idx="2"/>
              <a:endCxn id="23" idx="0"/>
            </p:cNvCxnSpPr>
            <p:nvPr/>
          </p:nvCxnSpPr>
          <p:spPr>
            <a:xfrm>
              <a:off x="8332932" y="1794206"/>
              <a:ext cx="0" cy="26213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5F2DCD0-A752-DF45-19D0-13E217505B4B}"/>
                </a:ext>
              </a:extLst>
            </p:cNvPr>
            <p:cNvGrpSpPr/>
            <p:nvPr/>
          </p:nvGrpSpPr>
          <p:grpSpPr>
            <a:xfrm>
              <a:off x="4774293" y="2056342"/>
              <a:ext cx="7117278" cy="2599664"/>
              <a:chOff x="4774293" y="2056342"/>
              <a:chExt cx="7117278" cy="259966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BDC06B8-639D-07D2-47EF-88F6EDC47510}"/>
                  </a:ext>
                </a:extLst>
              </p:cNvPr>
              <p:cNvGrpSpPr/>
              <p:nvPr/>
            </p:nvGrpSpPr>
            <p:grpSpPr>
              <a:xfrm>
                <a:off x="5105277" y="2206257"/>
                <a:ext cx="6455310" cy="2327150"/>
                <a:chOff x="5274501" y="1948385"/>
                <a:chExt cx="6455310" cy="2327150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7696D9FB-ABD1-1EB1-AE64-573C1DF6CE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35403" y="2247941"/>
                  <a:ext cx="6333507" cy="2027594"/>
                </a:xfrm>
                <a:prstGeom prst="rect">
                  <a:avLst/>
                </a:prstGeom>
              </p:spPr>
            </p:pic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0E07B1B-A4D9-C607-26EE-BA8839770EC8}"/>
                    </a:ext>
                  </a:extLst>
                </p:cNvPr>
                <p:cNvSpPr txBox="1"/>
                <p:nvPr/>
              </p:nvSpPr>
              <p:spPr>
                <a:xfrm>
                  <a:off x="5274501" y="1948385"/>
                  <a:ext cx="64553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latin typeface="Helvetica Neue Light" panose="02000403000000020004" pitchFamily="2" charset="0"/>
                      <a:ea typeface="Helvetica Neue Light" panose="02000403000000020004" pitchFamily="2" charset="0"/>
                    </a:rPr>
                    <a:t>(Intermediate) ROM MPC-based Planning</a:t>
                  </a:r>
                </a:p>
              </p:txBody>
            </p:sp>
          </p:grp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610FA98B-0EFF-F725-4B22-A2034BD49AE0}"/>
                  </a:ext>
                </a:extLst>
              </p:cNvPr>
              <p:cNvSpPr/>
              <p:nvPr/>
            </p:nvSpPr>
            <p:spPr>
              <a:xfrm>
                <a:off x="4774293" y="2056342"/>
                <a:ext cx="7117278" cy="2337528"/>
              </a:xfrm>
              <a:prstGeom prst="roundRect">
                <a:avLst/>
              </a:prstGeom>
              <a:solidFill>
                <a:srgbClr val="FFC000">
                  <a:alpha val="34112"/>
                </a:srgb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2A03FA57-F69C-4FB7-0007-CEE94AB53667}"/>
                  </a:ext>
                </a:extLst>
              </p:cNvPr>
              <p:cNvCxnSpPr/>
              <p:nvPr/>
            </p:nvCxnSpPr>
            <p:spPr>
              <a:xfrm>
                <a:off x="8273143" y="4393870"/>
                <a:ext cx="0" cy="26213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AB949941-761E-4201-EE7D-C5355B8020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008" r="44550" b="32458"/>
          <a:stretch>
            <a:fillRect/>
          </a:stretch>
        </p:blipFill>
        <p:spPr>
          <a:xfrm>
            <a:off x="141535" y="271401"/>
            <a:ext cx="4309754" cy="180208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5AC8CCD-2762-913D-A818-B65DCC3137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9295"/>
          <a:stretch>
            <a:fillRect/>
          </a:stretch>
        </p:blipFill>
        <p:spPr>
          <a:xfrm>
            <a:off x="463654" y="2264206"/>
            <a:ext cx="3665517" cy="4392437"/>
          </a:xfrm>
          <a:prstGeom prst="rect">
            <a:avLst/>
          </a:prstGeom>
        </p:spPr>
      </p:pic>
      <p:pic>
        <p:nvPicPr>
          <p:cNvPr id="33" name="Picture 32" descr="Artist Clipart Stock Illustrations – 7,556 Artist Clipart ...">
            <a:extLst>
              <a:ext uri="{FF2B5EF4-FFF2-40B4-BE49-F238E27FC236}">
                <a16:creationId xmlns:a16="http://schemas.microsoft.com/office/drawing/2014/main" id="{E6866438-EC9D-DFD5-D3F8-35B974368F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flipH="1">
            <a:off x="3383043" y="2804021"/>
            <a:ext cx="1676821" cy="198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9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B4AEA-52D6-66F8-0EC0-C0BB7617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6B33-8ADB-9B89-C1E2-2169C42D8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25266-76EC-7486-6887-AA24B3764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layering?</a:t>
            </a:r>
          </a:p>
          <a:p>
            <a:r>
              <a:rPr lang="en-US" dirty="0"/>
              <a:t>Ubiquitous in engineered, human &amp;</a:t>
            </a:r>
            <a:br>
              <a:rPr lang="en-US" dirty="0"/>
            </a:br>
            <a:r>
              <a:rPr lang="en-US" dirty="0"/>
              <a:t>natural systems</a:t>
            </a:r>
          </a:p>
          <a:p>
            <a:r>
              <a:rPr lang="en-US" dirty="0"/>
              <a:t>Amazing success stories</a:t>
            </a:r>
          </a:p>
          <a:p>
            <a:pPr lvl="1"/>
            <a:r>
              <a:rPr lang="en-US" dirty="0"/>
              <a:t>The Internet</a:t>
            </a:r>
          </a:p>
          <a:p>
            <a:pPr lvl="1"/>
            <a:r>
              <a:rPr lang="en-US" dirty="0"/>
              <a:t>Power grid</a:t>
            </a:r>
          </a:p>
          <a:p>
            <a:pPr lvl="1"/>
            <a:r>
              <a:rPr lang="en-US" dirty="0"/>
              <a:t>Space craft</a:t>
            </a:r>
          </a:p>
          <a:p>
            <a:pPr lvl="1"/>
            <a:r>
              <a:rPr lang="en-US" dirty="0"/>
              <a:t>ASML’s lithography machines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So, why study this? 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 systematic theory!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954D9F2-FE02-1AA2-8207-7278111E67F6}"/>
              </a:ext>
            </a:extLst>
          </p:cNvPr>
          <p:cNvGrpSpPr/>
          <p:nvPr/>
        </p:nvGrpSpPr>
        <p:grpSpPr>
          <a:xfrm>
            <a:off x="7317126" y="2505937"/>
            <a:ext cx="4310796" cy="3302123"/>
            <a:chOff x="7317126" y="2505937"/>
            <a:chExt cx="4310796" cy="330212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5C7B3E-E6A4-B44C-F06A-305D29518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7126" y="2505938"/>
              <a:ext cx="2064180" cy="1548135"/>
            </a:xfrm>
            <a:prstGeom prst="roundRect">
              <a:avLst>
                <a:gd name="adj" fmla="val 11111"/>
              </a:avLst>
            </a:prstGeom>
            <a:ln w="38100" cap="rnd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904136C-D743-38A5-37DB-F405C271D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63742" y="2505937"/>
              <a:ext cx="2064180" cy="1548135"/>
            </a:xfrm>
            <a:prstGeom prst="roundRect">
              <a:avLst>
                <a:gd name="adj" fmla="val 11111"/>
              </a:avLst>
            </a:prstGeom>
            <a:ln w="38100" cap="rnd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D9F026D-A490-6D1C-5216-18E0A9794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70" b="70"/>
            <a:stretch/>
          </p:blipFill>
          <p:spPr>
            <a:xfrm>
              <a:off x="9563742" y="4259925"/>
              <a:ext cx="2064180" cy="1548135"/>
            </a:xfrm>
            <a:prstGeom prst="roundRect">
              <a:avLst>
                <a:gd name="adj" fmla="val 11111"/>
              </a:avLst>
            </a:prstGeom>
            <a:ln w="38100" cap="rnd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3BF6A7-7C21-A9A9-95E3-3C7CE7ECD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7126" y="4259926"/>
              <a:ext cx="2064179" cy="1548134"/>
            </a:xfrm>
            <a:prstGeom prst="roundRect">
              <a:avLst>
                <a:gd name="adj" fmla="val 11111"/>
              </a:avLst>
            </a:prstGeom>
            <a:ln w="38100" cap="rnd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4A94EC-AE09-5CD6-C6B1-9F3AA7944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003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5F44-2359-50B1-D341-37412CDB2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0A1C7-FAE0-CE5F-AE96-4BBE71053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is the keyword here?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Compute</a:t>
            </a:r>
            <a:r>
              <a:rPr lang="en-US" i="1" dirty="0">
                <a:solidFill>
                  <a:srgbClr val="0070C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:</a:t>
            </a:r>
          </a:p>
          <a:p>
            <a:r>
              <a:rPr lang="en-US" dirty="0"/>
              <a:t>Breaks up complexity based on resources</a:t>
            </a:r>
          </a:p>
          <a:p>
            <a:r>
              <a:rPr lang="en-US" dirty="0"/>
              <a:t>Natural concepts: Time-scale separation</a:t>
            </a:r>
          </a:p>
          <a:p>
            <a:r>
              <a:rPr lang="en-US" dirty="0"/>
              <a:t>Feasibility is central</a:t>
            </a:r>
          </a:p>
          <a:p>
            <a:r>
              <a:rPr lang="en-US" dirty="0"/>
              <a:t>But, 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rarely a first-class design constraint!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work: Quantify tradeoffs in control design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This work:</a:t>
            </a:r>
            <a:r>
              <a:rPr lang="en-US" dirty="0"/>
              <a:t> subject to </a:t>
            </a:r>
            <a:r>
              <a:rPr lang="en-US" b="1" dirty="0">
                <a:solidFill>
                  <a:srgbClr val="0070C0"/>
                </a:solidFill>
              </a:rPr>
              <a:t>compute constraints</a:t>
            </a:r>
            <a:r>
              <a:rPr lang="en-US" dirty="0">
                <a:solidFill>
                  <a:srgbClr val="0070C0"/>
                </a:solidFill>
              </a:rPr>
              <a:t>!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now: one layer | later: multiple layers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FE0C45-7C35-2E0E-5B64-3AC278CD9F25}"/>
              </a:ext>
            </a:extLst>
          </p:cNvPr>
          <p:cNvGrpSpPr/>
          <p:nvPr/>
        </p:nvGrpSpPr>
        <p:grpSpPr>
          <a:xfrm>
            <a:off x="7317126" y="2505937"/>
            <a:ext cx="4310796" cy="3302123"/>
            <a:chOff x="7317126" y="2505937"/>
            <a:chExt cx="4310796" cy="33021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82B9A19-A519-FDEA-18CA-D98F3E328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7126" y="2505938"/>
              <a:ext cx="2064180" cy="1548135"/>
            </a:xfrm>
            <a:prstGeom prst="roundRect">
              <a:avLst>
                <a:gd name="adj" fmla="val 11111"/>
              </a:avLst>
            </a:prstGeom>
            <a:ln w="38100" cap="rnd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84E4AD1-EC74-9A96-7FEF-A973EC41B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63742" y="2505937"/>
              <a:ext cx="2064180" cy="1548135"/>
            </a:xfrm>
            <a:prstGeom prst="roundRect">
              <a:avLst>
                <a:gd name="adj" fmla="val 11111"/>
              </a:avLst>
            </a:prstGeom>
            <a:ln w="38100" cap="rnd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E8CB1C-4EBD-33B6-99AC-AB91A4BFB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70" b="70"/>
            <a:stretch/>
          </p:blipFill>
          <p:spPr>
            <a:xfrm>
              <a:off x="9563742" y="4259925"/>
              <a:ext cx="2064180" cy="1548135"/>
            </a:xfrm>
            <a:prstGeom prst="roundRect">
              <a:avLst>
                <a:gd name="adj" fmla="val 11111"/>
              </a:avLst>
            </a:prstGeom>
            <a:ln w="38100" cap="rnd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BE45E80-F83C-C8DE-BBC4-1D1E5689B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7126" y="4259926"/>
              <a:ext cx="2064179" cy="1548134"/>
            </a:xfrm>
            <a:prstGeom prst="roundRect">
              <a:avLst>
                <a:gd name="adj" fmla="val 11111"/>
              </a:avLst>
            </a:prstGeom>
            <a:ln w="38100" cap="rnd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2FA065-3748-9DB6-C794-C7B33B01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967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54123-D640-6196-D83C-7BE1B496F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2485-452D-D128-806B-ECD13800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9ADB1-5E95-D8BD-3D7B-0CC9CC0DD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 and introduction</a:t>
            </a:r>
          </a:p>
          <a:p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Problem statement</a:t>
            </a:r>
          </a:p>
          <a:p>
            <a:r>
              <a:rPr lang="en-US" dirty="0"/>
              <a:t>The design meta-problem</a:t>
            </a:r>
          </a:p>
          <a:p>
            <a:r>
              <a:rPr lang="en-US" dirty="0"/>
              <a:t>A simple example</a:t>
            </a:r>
          </a:p>
          <a:p>
            <a:r>
              <a:rPr lang="en-US" dirty="0"/>
              <a:t>A step back</a:t>
            </a:r>
          </a:p>
          <a:p>
            <a:r>
              <a:rPr lang="en-US" dirty="0"/>
              <a:t>Conclusions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B3721-E72C-AD11-C385-8793C5F30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825" y="1973872"/>
            <a:ext cx="3713084" cy="291025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7246D-3EF9-742E-A594-72BFF86C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4727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0BA-B597-F8DB-4A59-074C55C1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28E99-D7BD-3C4D-4618-2503BFCB2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Generic controller design task:</a:t>
            </a:r>
            <a:endParaRPr lang="en-US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  <a:p>
            <a:r>
              <a:rPr lang="en-US" dirty="0"/>
              <a:t>(deterministic) optimal-control problem: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can we solve this problem? Tractable solution? Online implementation?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106774-4529-9E83-B81B-680941C4A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85" y="2999502"/>
            <a:ext cx="3708400" cy="23114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E9DC75E-7FDA-9EAA-9CF6-2815B05E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42C024-7118-8A3E-1B08-C2B1CB134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900" y="1825626"/>
            <a:ext cx="4279900" cy="348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206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5963-3D78-4846-2126-70834EB2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C237A-C926-AAC8-D4A9-6BE3886C9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problem by making </a:t>
            </a:r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approximations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3E22A-5A44-F940-102E-1B9DE43FA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74401"/>
            <a:ext cx="3708400" cy="23114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CE412-2123-7FA2-B6B3-4A243146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7684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5F42D-5E5C-02D0-5B3D-2CBD12077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FE8F-AD3A-066B-27BB-DDBEB76E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7C1021-58C1-C92A-BAAE-392DD3A38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Solve problem by making </a:t>
                </a:r>
                <a:r>
                  <a:rPr lang="en-US" i="1" dirty="0"/>
                  <a:t>approximations</a:t>
                </a:r>
                <a:r>
                  <a:rPr lang="en-US" dirty="0"/>
                  <a:t>:</a:t>
                </a:r>
              </a:p>
              <a:p>
                <a:r>
                  <a:rPr lang="en-US" b="1" dirty="0">
                    <a:latin typeface="Helvetica Neue" panose="02000503000000020004" pitchFamily="2" charset="0"/>
                    <a:ea typeface="Helvetica Neue" panose="02000503000000020004" pitchFamily="2" charset="0"/>
                  </a:rPr>
                  <a:t>Simplified model/policy class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acc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</m:acc>
                      </m:e>
                    </m:d>
                    <m:r>
                      <a:rPr lang="en-US" b="1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endParaRPr lang="en-US" b="1" dirty="0">
                  <a:latin typeface="Helvetica Neue" panose="02000503000000020004" pitchFamily="2" charset="0"/>
                  <a:ea typeface="Helvetica Neue" panose="02000503000000020004" pitchFamily="2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7C1021-58C1-C92A-BAAE-392DD3A38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C6857FB-A2EC-68A9-D2A1-81AD62BD5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947" y="2474401"/>
            <a:ext cx="3314700" cy="23495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0C4E2-5E95-B4C1-571B-D6F0B1B9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4264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FE75-3190-C3C5-47C2-07ED79C5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5017B-C8FA-A6DD-F830-53BB437F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0EEAD1-1652-46E9-1E14-5F83A92225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Solve problem by making </a:t>
                </a:r>
                <a:r>
                  <a:rPr lang="en-US" i="1" dirty="0"/>
                  <a:t>approximations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Simplified model/policy class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latin typeface="Helvetica Neue" panose="02000503000000020004" pitchFamily="2" charset="0"/>
                    <a:ea typeface="Helvetica Neue" panose="02000503000000020004" pitchFamily="2" charset="0"/>
                  </a:rPr>
                  <a:t>Solve over finite horizon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b="1" dirty="0">
                    <a:latin typeface="Helvetica Neue" panose="02000503000000020004" pitchFamily="2" charset="0"/>
                    <a:ea typeface="Helvetica Neue" panose="02000503000000020004" pitchFamily="2" charset="0"/>
                  </a:rPr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0EEAD1-1652-46E9-1E14-5F83A9222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FF2E9D5-4C59-6374-ECD8-1F5686ECC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947" y="2423601"/>
            <a:ext cx="3314700" cy="24003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9EE13-6595-5531-A8BD-D18E73CD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4233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4B60E-2CBE-5C0E-EA98-C8553CFBE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4F77-D81C-7BCA-95AB-CA3FBB8A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09FEBB-AC32-AEBC-44F8-8FBB68ECE0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Solve problem by making </a:t>
                </a:r>
                <a:r>
                  <a:rPr lang="en-US" i="1" dirty="0"/>
                  <a:t>approximations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Simplified model/policy class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Solve over finite horizon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b="1" dirty="0">
                    <a:latin typeface="Helvetica Neue" panose="02000503000000020004" pitchFamily="2" charset="0"/>
                    <a:ea typeface="Helvetica Neue" panose="02000503000000020004" pitchFamily="2" charset="0"/>
                  </a:rPr>
                  <a:t>Discretize the problem at rate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endParaRPr lang="en-US" b="1" dirty="0">
                  <a:latin typeface="Helvetica Neue" panose="02000503000000020004" pitchFamily="2" charset="0"/>
                  <a:ea typeface="Helvetica Neue" panose="02000503000000020004" pitchFamily="2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09FEBB-AC32-AEBC-44F8-8FBB68ECE0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6D0239C-ECBD-1F71-36A9-425886D52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947" y="2309301"/>
            <a:ext cx="3759200" cy="26289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95281-98BE-5960-28C2-C45B03D6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9699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DA165-C57D-26CD-26E2-C071902A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EBA8C-837A-53D0-1C74-EAED61BE1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994E60-4F95-63CD-C484-F83146F420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Solve problem by making </a:t>
                </a:r>
                <a:r>
                  <a:rPr lang="en-US" i="1" dirty="0"/>
                  <a:t>approximations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Simplified model/policy class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Solve over finite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Discretize the problem at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Helvetica Neue Medium" panose="02000503000000020004" pitchFamily="2" charset="0"/>
                    <a:ea typeface="Helvetica Neue Medium" panose="02000503000000020004" pitchFamily="2" charset="0"/>
                    <a:cs typeface="Helvetica Neue Medium" panose="02000503000000020004" pitchFamily="2" charset="0"/>
                  </a:rPr>
                  <a:t>Suboptimal solution after</a:t>
                </a:r>
                <a:r>
                  <a:rPr lang="en-US" dirty="0"/>
                  <a:t> </a:t>
                </a:r>
                <a:r>
                  <a:rPr lang="en-US" i="1" dirty="0">
                    <a:solidFill>
                      <a:srgbClr val="FF0000"/>
                    </a:solidFill>
                    <a:latin typeface="LM Roman 10" pitchFamily="2" charset="77"/>
                  </a:rPr>
                  <a:t>N</a:t>
                </a:r>
                <a:r>
                  <a:rPr lang="en-US" i="1" dirty="0">
                    <a:latin typeface="LM Roman 10" pitchFamily="2" charset="77"/>
                  </a:rPr>
                  <a:t> </a:t>
                </a:r>
                <a:r>
                  <a:rPr lang="en-US" dirty="0">
                    <a:latin typeface="Helvetica Neue Medium" panose="02000503000000020004" pitchFamily="2" charset="0"/>
                    <a:ea typeface="Helvetica Neue Medium" panose="02000503000000020004" pitchFamily="2" charset="0"/>
                    <a:cs typeface="Helvetica Neue Medium" panose="02000503000000020004" pitchFamily="2" charset="0"/>
                  </a:rPr>
                  <a:t>iterations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994E60-4F95-63CD-C484-F83146F420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850CBB1-A998-DC14-9D01-4EE13898D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947" y="2309301"/>
            <a:ext cx="3759200" cy="26289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FF53A-9529-96DA-C3A8-5F0FD31E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0612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EBC20-1849-CE75-F354-4D245012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FC1B-C9DA-AA6B-0C01-2E97FF8C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BCD1C-FA50-3BE4-3652-9F5CB91A7D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Solve problem by making </a:t>
                </a:r>
                <a:r>
                  <a:rPr lang="en-US" i="1" dirty="0"/>
                  <a:t>approximations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Simplified model/policy class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Solve over finite horizon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Discretize the problem at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Suboptimal solution 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pPr marL="0" indent="0">
                  <a:buNone/>
                </a:pPr>
                <a:endParaRPr lang="en-US" dirty="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Helvetica Neue Medium" panose="02000503000000020004" pitchFamily="2" charset="0"/>
                    <a:ea typeface="Helvetica Neue Medium" panose="02000503000000020004" pitchFamily="2" charset="0"/>
                    <a:cs typeface="Helvetica Neue Medium" panose="02000503000000020004" pitchFamily="2" charset="0"/>
                  </a:rPr>
                  <a:t>Common choices for design approximations</a:t>
                </a:r>
              </a:p>
              <a:p>
                <a:r>
                  <a:rPr lang="en-US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Certainly are others, e.g., finite memory.</a:t>
                </a:r>
              </a:p>
              <a:p>
                <a:r>
                  <a:rPr lang="en-US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Quantify joint effect on system performance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BCD1C-FA50-3BE4-3652-9F5CB91A7D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025BE12-AAD2-8554-F579-A046A12D8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947" y="2309301"/>
            <a:ext cx="3759200" cy="26289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3864C-B0B5-9908-8D0E-1676C2DC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1188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D4BCD-69F8-ACDD-FF0C-3EF44D2D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5ECC-FC09-18A2-3387-96B9D7F1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6ADFC-B771-7FFB-06CC-FED6B2D3C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Nice… but approx. problem must satisfy design &amp; implementation constraints:</a:t>
            </a:r>
          </a:p>
          <a:p>
            <a:r>
              <a:rPr lang="en-US" dirty="0"/>
              <a:t>Stabilize true system</a:t>
            </a:r>
          </a:p>
          <a:p>
            <a:r>
              <a:rPr lang="en-US" dirty="0"/>
              <a:t>Guarantee performance</a:t>
            </a:r>
          </a:p>
          <a:p>
            <a:r>
              <a:rPr lang="en-US" dirty="0"/>
              <a:t>Satisfy offline compute constraints</a:t>
            </a:r>
          </a:p>
          <a:p>
            <a:r>
              <a:rPr lang="en-US" dirty="0"/>
              <a:t>Satisfy online compute constraints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Individually well understood… </a:t>
            </a:r>
            <a:r>
              <a:rPr lang="en-US" i="1" dirty="0"/>
              <a:t>Joint effect?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2B7C2-5C6E-216C-5ABE-0065FFD31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947" y="2309301"/>
            <a:ext cx="3759200" cy="26289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8C7F69-EBA3-94D1-380D-C8F8E1241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Sept. 23,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84B93C-1D61-8D6C-E795-FA2FC927DE5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Tradeoffs in Control Design - C. Verhoek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B789E5-BCF5-94C5-AF32-6986A52B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15</a:t>
            </a:fld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14B068C-D33D-8D32-6ABF-D2EE4F3CB766}"/>
              </a:ext>
            </a:extLst>
          </p:cNvPr>
          <p:cNvSpPr/>
          <p:nvPr/>
        </p:nvSpPr>
        <p:spPr>
          <a:xfrm>
            <a:off x="979942" y="4921611"/>
            <a:ext cx="6283569" cy="941676"/>
          </a:xfrm>
          <a:prstGeom prst="roundRect">
            <a:avLst>
              <a:gd name="adj" fmla="val 19157"/>
            </a:avLst>
          </a:prstGeom>
          <a:solidFill>
            <a:srgbClr val="D6F0FD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22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Problem statement:</a:t>
            </a:r>
            <a:r>
              <a:rPr lang="en-US" sz="2200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How to systematically </a:t>
            </a:r>
            <a:r>
              <a:rPr lang="en-US" sz="2200" i="1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quantify</a:t>
            </a:r>
            <a:r>
              <a:rPr lang="en-US" sz="2200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these design choices and constraints?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53C03-D57B-24C4-8710-45A3934D9079}"/>
              </a:ext>
            </a:extLst>
          </p:cNvPr>
          <p:cNvSpPr txBox="1"/>
          <p:nvPr/>
        </p:nvSpPr>
        <p:spPr>
          <a:xfrm>
            <a:off x="838200" y="6065679"/>
            <a:ext cx="4852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 err="1">
                <a:solidFill>
                  <a:schemeClr val="bg1">
                    <a:lumMod val="50000"/>
                  </a:schemeClr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Antoulas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 (2005); Grüne and </a:t>
            </a:r>
            <a:r>
              <a:rPr lang="en-US" sz="1000" i="1" dirty="0" err="1">
                <a:solidFill>
                  <a:schemeClr val="bg1">
                    <a:lumMod val="50000"/>
                  </a:schemeClr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Rantzer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 (2008); Chen and Francis (1995); Shi et al. (2026).</a:t>
            </a:r>
          </a:p>
        </p:txBody>
      </p:sp>
    </p:spTree>
    <p:extLst>
      <p:ext uri="{BB962C8B-B14F-4D97-AF65-F5344CB8AC3E}">
        <p14:creationId xmlns:p14="http://schemas.microsoft.com/office/powerpoint/2010/main" val="42712512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7DFF4-427B-6A70-6778-F78A1AB1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64157-5B31-438F-3F61-B941EB51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2E0A-BFA5-B886-5EB4-4FDC12931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 and 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design meta-problem</a:t>
            </a:r>
          </a:p>
          <a:p>
            <a:pPr lvl="1"/>
            <a:r>
              <a:rPr lang="en-US" i="1" dirty="0"/>
              <a:t>Formulation of the DMP</a:t>
            </a:r>
          </a:p>
          <a:p>
            <a:pPr lvl="1"/>
            <a:r>
              <a:rPr lang="en-US" i="1" dirty="0"/>
              <a:t>Incremental input-to-state-stability</a:t>
            </a:r>
          </a:p>
          <a:p>
            <a:pPr lvl="1"/>
            <a:r>
              <a:rPr lang="en-US" i="1" dirty="0"/>
              <a:t>Formalizing the DMP</a:t>
            </a:r>
          </a:p>
          <a:p>
            <a:r>
              <a:rPr lang="en-US" dirty="0"/>
              <a:t>A simple example</a:t>
            </a:r>
          </a:p>
          <a:p>
            <a:r>
              <a:rPr lang="en-US" dirty="0"/>
              <a:t>A step back</a:t>
            </a:r>
          </a:p>
          <a:p>
            <a:r>
              <a:rPr lang="en-US" dirty="0"/>
              <a:t>Conclusions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6CAC8-61F4-E9E6-8658-C467BCC89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825" y="1973872"/>
            <a:ext cx="3713084" cy="291025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5CD15-3E86-8E53-6526-4B39E102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7926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43B88-A921-47F3-9DE7-B4C607F7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99496-D064-F548-677B-DE74C6869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Our approach: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Associate policy to every approximation: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Bound policy difference in terms of </a:t>
            </a:r>
            <a:r>
              <a:rPr lang="en-US" i="1" dirty="0"/>
              <a:t>design-dependent sector bound</a:t>
            </a:r>
          </a:p>
          <a:p>
            <a:pPr marL="914400" lvl="1" indent="-457200">
              <a:buFont typeface="+mj-lt"/>
              <a:buAutoNum type="arabicPeriod"/>
            </a:pPr>
            <a:endParaRPr lang="en-US" i="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Analyze 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performance gap </a:t>
            </a:r>
            <a:r>
              <a:rPr lang="en-US" dirty="0" err="1"/>
              <a:t>w.r.t.</a:t>
            </a:r>
            <a:r>
              <a:rPr lang="en-US" dirty="0"/>
              <a:t> baseline policy: </a:t>
            </a:r>
            <a:r>
              <a:rPr lang="en-US" i="1" dirty="0">
                <a:solidFill>
                  <a:schemeClr val="bg1"/>
                </a:solidFill>
                <a:latin typeface="LM Roman 8" pitchFamily="2" charset="77"/>
              </a:rPr>
              <a:t>J</a:t>
            </a:r>
            <a:endParaRPr lang="en-US" i="1" dirty="0">
              <a:solidFill>
                <a:schemeClr val="bg1"/>
              </a:solidFill>
              <a:highlight>
                <a:srgbClr val="FFFF00"/>
              </a:highlight>
              <a:latin typeface="LM Roman 8" pitchFamily="2" charset="77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Guarantee 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stability</a:t>
            </a:r>
            <a:r>
              <a:rPr lang="en-US" dirty="0"/>
              <a:t> w/ incremental input-to-state stability &amp; small-gain conditions</a:t>
            </a:r>
          </a:p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Which results in: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dirty="0"/>
              <a:t>A design meta-problem to quantitatively navigate design tradeoffs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dirty="0"/>
              <a:t>Performance gap is minimized </a:t>
            </a:r>
            <a:r>
              <a:rPr lang="en-US" dirty="0" err="1"/>
              <a:t>s.t.</a:t>
            </a:r>
            <a:r>
              <a:rPr lang="en-US" dirty="0"/>
              <a:t> stability, real-time compute, timing constraints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dirty="0"/>
              <a:t>Simple verification through design-dependent sector bound on policy difference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33DAB-AB3E-6A59-8D75-64C3170D4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363" y="2334004"/>
            <a:ext cx="1917700" cy="25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20C8E6-4519-A6D9-2D1B-1D65ED828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758" y="3537688"/>
            <a:ext cx="1689100" cy="2921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6621C8-7B8A-7DC5-260A-6B026239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17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9C8C9A-018D-8C15-E4FB-C18AC5F80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555" y="3123292"/>
            <a:ext cx="5422900" cy="292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F18AC2-5248-D86B-F548-75BEDBB58FA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3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CB83-B20B-FC6D-FACB-1E1BB868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8F3A9-F32E-EE44-C5E1-F21177B93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Quantify performance gap 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by sequential decomposition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Order of decomposition is design-specific</a:t>
            </a:r>
          </a:p>
          <a:p>
            <a:r>
              <a:rPr lang="en-US" dirty="0"/>
              <a:t>Earlier choices affect performance gap later on </a:t>
            </a:r>
          </a:p>
          <a:p>
            <a:pPr lvl="1"/>
            <a:r>
              <a:rPr lang="en-US" i="1" dirty="0">
                <a:latin typeface="LM Roman 8" pitchFamily="2" charset="77"/>
              </a:rPr>
              <a:t>​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LM Roman 8" pitchFamily="2" charset="77"/>
              </a:rPr>
              <a:t>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inherently influences effect with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LM Roman 8" pitchFamily="2" charset="77"/>
              </a:rPr>
              <a:t>N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Jointly minimize terms 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subject to design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06FEC-9B35-8375-F21D-22DB3822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18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01BD8B-DE5E-836D-58D4-B1308967F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42" y="2395416"/>
            <a:ext cx="7772400" cy="1336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BCD7C5-1D2F-1DC7-FA63-1CA96E2031A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100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857F-DDE6-B679-5979-6C64F0F88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4A4AF-945D-087D-F301-01211B0C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Informal design meta-problem: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403D9-BB4C-0BDC-711D-D43E2F66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19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62E01D-124D-2917-E51F-5F3CC926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06" y="2715979"/>
            <a:ext cx="6083300" cy="2616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246523-A443-8A6E-8784-BABB2BFF3F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2515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484DA-37C2-CE4A-72BF-22B877DFB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82C5-43F4-6B9B-F0E1-B5FB1DEE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8DF6D-0A39-6D19-DE48-125B9F335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Informal design meta-problem: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792D68B-395C-2E60-CA5E-1E730CAF3F3E}"/>
              </a:ext>
            </a:extLst>
          </p:cNvPr>
          <p:cNvSpPr/>
          <p:nvPr/>
        </p:nvSpPr>
        <p:spPr>
          <a:xfrm>
            <a:off x="2708031" y="3200399"/>
            <a:ext cx="1362808" cy="474785"/>
          </a:xfrm>
          <a:prstGeom prst="roundRect">
            <a:avLst>
              <a:gd name="adj" fmla="val 27778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ShapeForMorph">
            <a:extLst>
              <a:ext uri="{FF2B5EF4-FFF2-40B4-BE49-F238E27FC236}">
                <a16:creationId xmlns:a16="http://schemas.microsoft.com/office/drawing/2014/main" id="{0EB12941-9924-DE65-FB44-5452B2C76430}"/>
              </a:ext>
            </a:extLst>
          </p:cNvPr>
          <p:cNvSpPr/>
          <p:nvPr/>
        </p:nvSpPr>
        <p:spPr>
          <a:xfrm>
            <a:off x="7985912" y="3326422"/>
            <a:ext cx="3367888" cy="1562101"/>
          </a:xfrm>
          <a:prstGeom prst="roundRect">
            <a:avLst>
              <a:gd name="adj" fmla="val 10893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Plan far enough in future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354CD-EE58-FB86-A14F-99AC9F5A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20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8FD87D-1BFA-EA46-ECDE-6A1B7F477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06" y="2715979"/>
            <a:ext cx="6083300" cy="2616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6F7409-C88E-2265-770C-30AD878BF9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0566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9BBBD-022B-7E03-8354-C54A3D59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7F36-EB9C-702F-A592-57840C743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E330C-642E-51D3-3C1E-0E5CD68F8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Informal design meta-problem: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4AF141-9D32-4E2A-45C1-B41A9BCB3EFF}"/>
              </a:ext>
            </a:extLst>
          </p:cNvPr>
          <p:cNvSpPr/>
          <p:nvPr/>
        </p:nvSpPr>
        <p:spPr>
          <a:xfrm>
            <a:off x="4035670" y="3217983"/>
            <a:ext cx="1283676" cy="474785"/>
          </a:xfrm>
          <a:prstGeom prst="roundRect">
            <a:avLst>
              <a:gd name="adj" fmla="val 27778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ShapeForMorph">
            <a:extLst>
              <a:ext uri="{FF2B5EF4-FFF2-40B4-BE49-F238E27FC236}">
                <a16:creationId xmlns:a16="http://schemas.microsoft.com/office/drawing/2014/main" id="{A7B575A9-8296-69E5-9814-3276FF6F5768}"/>
              </a:ext>
            </a:extLst>
          </p:cNvPr>
          <p:cNvSpPr/>
          <p:nvPr/>
        </p:nvSpPr>
        <p:spPr>
          <a:xfrm>
            <a:off x="7985912" y="3326422"/>
            <a:ext cx="3367888" cy="1562101"/>
          </a:xfrm>
          <a:prstGeom prst="roundRect">
            <a:avLst>
              <a:gd name="adj" fmla="val 10893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Sample sufficiently fast</a:t>
            </a:r>
            <a:b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to ensure stabilization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5F74E-D04E-9885-21A7-FA4A7183A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21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8B9C20-0757-DC1A-5E14-760B9ABBB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06" y="2715979"/>
            <a:ext cx="6083300" cy="2616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42856D-6B5E-D6F5-AB4E-1F4ADE4CBC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28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FAF2-AD21-8CD4-A71E-063FD11D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ABFBA0-14CC-DE5F-878A-2DE422594B48}"/>
              </a:ext>
            </a:extLst>
          </p:cNvPr>
          <p:cNvSpPr/>
          <p:nvPr/>
        </p:nvSpPr>
        <p:spPr>
          <a:xfrm>
            <a:off x="2699239" y="3668892"/>
            <a:ext cx="4884902" cy="474785"/>
          </a:xfrm>
          <a:prstGeom prst="roundRect">
            <a:avLst>
              <a:gd name="adj" fmla="val 27778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CC488-22EA-F063-4C87-D228396A0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Informal design meta-problem:</a:t>
            </a:r>
          </a:p>
        </p:txBody>
      </p:sp>
      <p:sp>
        <p:nvSpPr>
          <p:cNvPr id="6" name="!!ShapeForMorph">
            <a:extLst>
              <a:ext uri="{FF2B5EF4-FFF2-40B4-BE49-F238E27FC236}">
                <a16:creationId xmlns:a16="http://schemas.microsoft.com/office/drawing/2014/main" id="{11DE4C86-75F5-BD95-7934-E649C52F0414}"/>
              </a:ext>
            </a:extLst>
          </p:cNvPr>
          <p:cNvSpPr/>
          <p:nvPr/>
        </p:nvSpPr>
        <p:spPr>
          <a:xfrm>
            <a:off x="7985912" y="3326422"/>
            <a:ext cx="3367888" cy="1562101"/>
          </a:xfrm>
          <a:prstGeom prst="roundRect">
            <a:avLst>
              <a:gd name="adj" fmla="val 10893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Reduced order model class must be complex enough (e.g., include unstable modes)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7648CC-C84C-2486-C54D-3A66A96D3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06" y="2715979"/>
            <a:ext cx="6083300" cy="2616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B714F4-7080-A09D-BE23-64BD6268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789356-D8E9-1379-663B-FB0291C16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69FBF5-E224-4744-EFCC-928D8C9E37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87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69CA3-0EC9-543B-0251-98A50790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00E736-1BD4-6D5C-D2BC-DF79AF3E6146}"/>
              </a:ext>
            </a:extLst>
          </p:cNvPr>
          <p:cNvSpPr/>
          <p:nvPr/>
        </p:nvSpPr>
        <p:spPr>
          <a:xfrm>
            <a:off x="2699239" y="4108510"/>
            <a:ext cx="2259623" cy="474785"/>
          </a:xfrm>
          <a:prstGeom prst="roundRect">
            <a:avLst>
              <a:gd name="adj" fmla="val 27778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E1025-E251-7863-9745-138051AB6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Informal design meta-problem:</a:t>
            </a:r>
          </a:p>
        </p:txBody>
      </p:sp>
      <p:sp>
        <p:nvSpPr>
          <p:cNvPr id="6" name="!!ShapeForMorph">
            <a:extLst>
              <a:ext uri="{FF2B5EF4-FFF2-40B4-BE49-F238E27FC236}">
                <a16:creationId xmlns:a16="http://schemas.microsoft.com/office/drawing/2014/main" id="{574C3874-4D72-85E9-C59B-E2A41A3C37C8}"/>
              </a:ext>
            </a:extLst>
          </p:cNvPr>
          <p:cNvSpPr/>
          <p:nvPr/>
        </p:nvSpPr>
        <p:spPr>
          <a:xfrm>
            <a:off x="7985912" y="3326422"/>
            <a:ext cx="3367888" cy="1562101"/>
          </a:xfrm>
          <a:prstGeom prst="roundRect">
            <a:avLst>
              <a:gd name="adj" fmla="val 10893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Enough optimization steps to obtain a stabilizing policy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262CDF-A0C2-FEF3-1162-20D8C183E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06" y="2715979"/>
            <a:ext cx="6083300" cy="2616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B03EF1-2FC5-4369-DCFC-E771134F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4AF7E-9F6F-86C2-28AB-3CF7B049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89FA82-E4D7-DE79-C23D-1E0DD73756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43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3E93D-472B-E08B-2722-1C14355A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BB37-65E7-3652-0B76-F3641C5F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19498-388F-B783-7B43-6590D2E0D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Informal design meta-problem: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D42F39-E392-2342-D7C9-9C59B500B720}"/>
              </a:ext>
            </a:extLst>
          </p:cNvPr>
          <p:cNvSpPr/>
          <p:nvPr/>
        </p:nvSpPr>
        <p:spPr>
          <a:xfrm>
            <a:off x="2716823" y="4511661"/>
            <a:ext cx="2426677" cy="474785"/>
          </a:xfrm>
          <a:prstGeom prst="roundRect">
            <a:avLst>
              <a:gd name="adj" fmla="val 27778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ShapeForMorph">
            <a:extLst>
              <a:ext uri="{FF2B5EF4-FFF2-40B4-BE49-F238E27FC236}">
                <a16:creationId xmlns:a16="http://schemas.microsoft.com/office/drawing/2014/main" id="{6EBFFEF9-9F2A-9FEE-5495-7EA5D519A267}"/>
              </a:ext>
            </a:extLst>
          </p:cNvPr>
          <p:cNvSpPr/>
          <p:nvPr/>
        </p:nvSpPr>
        <p:spPr>
          <a:xfrm>
            <a:off x="7985912" y="3326422"/>
            <a:ext cx="3367888" cy="1562101"/>
          </a:xfrm>
          <a:prstGeom prst="roundRect">
            <a:avLst>
              <a:gd name="adj" fmla="val 10893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Online computation time (function </a:t>
            </a:r>
            <a:r>
              <a:rPr lang="en-US" sz="2200" b="1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</a:t>
            </a:r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e.g., # flops) within sampling time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5D14DB-A612-6626-D30D-C42F49E0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24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F3F349-F6E7-B814-6D9D-2DD2168F7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06" y="2715979"/>
            <a:ext cx="6083300" cy="2616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BCE263-45E7-87F4-E913-C9B37F323E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43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5F78C-4FE2-8F27-1DC0-BB1007B1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97A2-DEB4-B61A-EF9A-82D193AB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8E5FF-E753-45D2-3DA8-73CAB99F5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Informal design meta-problem: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5AC143-733C-CA42-C5AC-3F20A28B93A9}"/>
              </a:ext>
            </a:extLst>
          </p:cNvPr>
          <p:cNvSpPr/>
          <p:nvPr/>
        </p:nvSpPr>
        <p:spPr>
          <a:xfrm>
            <a:off x="2797509" y="4926051"/>
            <a:ext cx="1529862" cy="474785"/>
          </a:xfrm>
          <a:prstGeom prst="roundRect">
            <a:avLst>
              <a:gd name="adj" fmla="val 27778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0889D58-9B0D-C831-506A-54ED149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25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11A1A0-2CF4-1FD4-26B2-1565314C9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06" y="2715979"/>
            <a:ext cx="6083300" cy="2616200"/>
          </a:xfrm>
          <a:prstGeom prst="rect">
            <a:avLst/>
          </a:prstGeom>
        </p:spPr>
      </p:pic>
      <p:sp>
        <p:nvSpPr>
          <p:cNvPr id="6" name="!!ShapeForMorph">
            <a:extLst>
              <a:ext uri="{FF2B5EF4-FFF2-40B4-BE49-F238E27FC236}">
                <a16:creationId xmlns:a16="http://schemas.microsoft.com/office/drawing/2014/main" id="{3F99171D-9471-DC00-0EE7-0E717EF255D3}"/>
              </a:ext>
            </a:extLst>
          </p:cNvPr>
          <p:cNvSpPr/>
          <p:nvPr/>
        </p:nvSpPr>
        <p:spPr>
          <a:xfrm>
            <a:off x="7985912" y="3326422"/>
            <a:ext cx="3367888" cy="1562101"/>
          </a:xfrm>
          <a:prstGeom prst="roundRect">
            <a:avLst>
              <a:gd name="adj" fmla="val 10893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Policy admit performance requirements: encoded by the </a:t>
            </a:r>
            <a:r>
              <a:rPr lang="en-US" sz="2200" i="1" dirty="0">
                <a:solidFill>
                  <a:schemeClr val="tx1"/>
                </a:solidFill>
                <a:latin typeface="LM Roman 7" pitchFamily="2" charset="77"/>
                <a:ea typeface="Helvetica Neue Light" panose="02000403000000020004" pitchFamily="2" charset="0"/>
              </a:rPr>
              <a:t>R</a:t>
            </a:r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constraint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8BB17-0E7A-CBA3-674E-80158565A9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68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0008-C576-D973-7588-D463A459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79F97-0CA6-2BBE-CFB2-0136B0DB9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FF7CA-40A5-EC76-D378-068E1FB4A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Informal design meta-problem: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990DFA-20F7-3071-E4FC-1A0046B6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0D5A2-93C3-CBA2-555E-25A6599D2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06" y="2715979"/>
            <a:ext cx="6083300" cy="2616200"/>
          </a:xfrm>
          <a:prstGeom prst="rect">
            <a:avLst/>
          </a:prstGeom>
        </p:spPr>
      </p:pic>
      <p:sp>
        <p:nvSpPr>
          <p:cNvPr id="21" name="!!ShapeForMorph">
            <a:extLst>
              <a:ext uri="{FF2B5EF4-FFF2-40B4-BE49-F238E27FC236}">
                <a16:creationId xmlns:a16="http://schemas.microsoft.com/office/drawing/2014/main" id="{4D9DCEEC-1A8E-725D-7072-E21F386C8EC5}"/>
              </a:ext>
            </a:extLst>
          </p:cNvPr>
          <p:cNvSpPr/>
          <p:nvPr/>
        </p:nvSpPr>
        <p:spPr>
          <a:xfrm>
            <a:off x="7985912" y="2819687"/>
            <a:ext cx="3367888" cy="2575572"/>
          </a:xfrm>
          <a:prstGeom prst="roundRect">
            <a:avLst>
              <a:gd name="adj" fmla="val 10893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92DEB-1120-E7B0-7721-54B877F0DC16}"/>
              </a:ext>
            </a:extLst>
          </p:cNvPr>
          <p:cNvSpPr txBox="1"/>
          <p:nvPr/>
        </p:nvSpPr>
        <p:spPr>
          <a:xfrm>
            <a:off x="8206021" y="2883879"/>
            <a:ext cx="291917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t>Relationship between approximation choices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9850B-FE8B-C3A7-5793-43D93780D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3659888"/>
            <a:ext cx="2908300" cy="163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1045DA-81AA-9283-F1BF-0DC4613A58C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81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637C3-5AC9-3B9B-6230-50AF85187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B624-EC5C-9251-5FAF-E700222B2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meta-problem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E97EC-7F3C-A1D2-638F-7D0F8D5E3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Informal design meta-problem:</a:t>
            </a:r>
          </a:p>
        </p:txBody>
      </p:sp>
      <p:sp>
        <p:nvSpPr>
          <p:cNvPr id="6" name="!!ShapeForMorph">
            <a:extLst>
              <a:ext uri="{FF2B5EF4-FFF2-40B4-BE49-F238E27FC236}">
                <a16:creationId xmlns:a16="http://schemas.microsoft.com/office/drawing/2014/main" id="{6CFC5024-A65D-63FE-DDAC-1ADC109A28E4}"/>
              </a:ext>
            </a:extLst>
          </p:cNvPr>
          <p:cNvSpPr/>
          <p:nvPr/>
        </p:nvSpPr>
        <p:spPr>
          <a:xfrm>
            <a:off x="5930538" y="4180113"/>
            <a:ext cx="5910938" cy="1776549"/>
          </a:xfrm>
          <a:prstGeom prst="roundRect">
            <a:avLst>
              <a:gd name="adj" fmla="val 10893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00" dirty="0">
              <a:solidFill>
                <a:schemeClr val="tx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C6D43A-5E18-07FD-BC65-25366638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6CC325-4364-9665-C87C-FD2E1CDF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06" y="2715979"/>
            <a:ext cx="6083300" cy="2616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B059BC-B0A3-D2FF-AA16-396F23323D41}"/>
              </a:ext>
            </a:extLst>
          </p:cNvPr>
          <p:cNvSpPr txBox="1"/>
          <p:nvPr/>
        </p:nvSpPr>
        <p:spPr>
          <a:xfrm>
            <a:off x="5981338" y="4343263"/>
            <a:ext cx="5551263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t>Quantifies performance gap of design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t>Explicit tradeoffs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t>s.t.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t> compute constraints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t>Let’s formalize this to make it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actionable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D9384D-D148-5451-F758-FB98ACB5A0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83400" y="0"/>
            <a:ext cx="5308600" cy="1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55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38E2-E9DE-8D5B-40F4-AA8575C1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input-to-state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F1A80-B559-9D7B-52D0-23C64EEB8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How to make problem more concrete?</a:t>
            </a:r>
          </a:p>
          <a:p>
            <a:r>
              <a:rPr lang="en-US" dirty="0"/>
              <a:t>Leverage incremental input-to-state stability (</a:t>
            </a:r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δ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ISS</a:t>
            </a:r>
            <a:r>
              <a:rPr lang="en-US" dirty="0"/>
              <a:t>)</a:t>
            </a:r>
          </a:p>
          <a:p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Is implied by existence of </a:t>
            </a:r>
            <a:r>
              <a:rPr lang="en-US" dirty="0" err="1"/>
              <a:t>p.d.</a:t>
            </a:r>
            <a:r>
              <a:rPr lang="en-US" dirty="0"/>
              <a:t> </a:t>
            </a:r>
            <a:r>
              <a:rPr lang="en-US" i="1" dirty="0">
                <a:solidFill>
                  <a:schemeClr val="bg1"/>
                </a:solidFill>
                <a:latin typeface="LM Roman 12" pitchFamily="2" charset="77"/>
              </a:rPr>
              <a:t>V   </a:t>
            </a:r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/>
              <a:t>  </a:t>
            </a:r>
            <a:r>
              <a:rPr lang="en-US" dirty="0" err="1"/>
              <a:t>s.t.</a:t>
            </a:r>
            <a:endParaRPr lang="en-US" dirty="0"/>
          </a:p>
          <a:p>
            <a:pPr lvl="5"/>
            <a:endParaRPr lang="en-US" dirty="0"/>
          </a:p>
          <a:p>
            <a:pPr lvl="5"/>
            <a:endParaRPr lang="en-US" dirty="0"/>
          </a:p>
          <a:p>
            <a:r>
              <a:rPr lang="en-US" dirty="0"/>
              <a:t>Combine with small-gain condition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SGC</a:t>
            </a:r>
            <a:r>
              <a:rPr lang="en-US"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04402-1C79-BEB9-47BD-83B76DB7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28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57EB17-B7BE-E233-C1F6-2A0409972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537" y="4575736"/>
            <a:ext cx="2166263" cy="141529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B9E2E56-BD74-B857-E724-316F2D881983}"/>
              </a:ext>
            </a:extLst>
          </p:cNvPr>
          <p:cNvGrpSpPr/>
          <p:nvPr/>
        </p:nvGrpSpPr>
        <p:grpSpPr>
          <a:xfrm>
            <a:off x="838200" y="2767827"/>
            <a:ext cx="10515600" cy="1621974"/>
            <a:chOff x="838200" y="4093027"/>
            <a:chExt cx="10515600" cy="1621974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E22E83EB-E039-4F06-DB5A-423B6AAA1136}"/>
                </a:ext>
              </a:extLst>
            </p:cNvPr>
            <p:cNvSpPr/>
            <p:nvPr/>
          </p:nvSpPr>
          <p:spPr>
            <a:xfrm>
              <a:off x="838200" y="4093027"/>
              <a:ext cx="10515600" cy="1621974"/>
            </a:xfrm>
            <a:prstGeom prst="roundRect">
              <a:avLst>
                <a:gd name="adj" fmla="val 10893"/>
              </a:avLst>
            </a:prstGeom>
            <a:solidFill>
              <a:srgbClr val="00B0F0">
                <a:alpha val="1995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200" dirty="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Definition:</a:t>
              </a:r>
              <a:r>
                <a:rPr lang="en-US" sz="2200" dirty="0">
                  <a:solidFill>
                    <a:schemeClr val="tx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rPr>
                <a:t> A system                       is </a:t>
              </a:r>
              <a:r>
                <a:rPr lang="el-GR" sz="2200" dirty="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δ</a:t>
              </a:r>
              <a:r>
                <a:rPr lang="en-US" sz="2200" dirty="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ISS </a:t>
              </a:r>
              <a:r>
                <a:rPr lang="en-US" sz="2200" dirty="0">
                  <a:solidFill>
                    <a:schemeClr val="tx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rPr>
                <a:t>if there exists functions              and </a:t>
              </a:r>
              <a:br>
                <a:rPr lang="en-US" sz="2200" i="1" dirty="0">
                  <a:solidFill>
                    <a:schemeClr val="tx1"/>
                  </a:solidFill>
                  <a:latin typeface="LM Roman 12" pitchFamily="2" charset="77"/>
                  <a:ea typeface="Helvetica Neue Light" panose="02000403000000020004" pitchFamily="2" charset="0"/>
                  <a:cs typeface="Helvetica Neue Medium" panose="02000503000000020004" pitchFamily="2" charset="0"/>
                </a:rPr>
              </a:br>
              <a:r>
                <a:rPr lang="en-US" sz="2200" i="1" dirty="0">
                  <a:solidFill>
                    <a:schemeClr val="tx1"/>
                  </a:solidFill>
                  <a:latin typeface="LM Roman 12" pitchFamily="2" charset="77"/>
                  <a:ea typeface="Helvetica Neue Light" panose="02000403000000020004" pitchFamily="2" charset="0"/>
                  <a:cs typeface="Helvetica Neue Medium" panose="02000503000000020004" pitchFamily="2" charset="0"/>
                </a:rPr>
                <a:t>          </a:t>
              </a:r>
              <a:r>
                <a:rPr lang="en-US" sz="2200" dirty="0">
                  <a:solidFill>
                    <a:schemeClr val="tx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rPr>
                <a:t>    , such that for all           , all input signals           and all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D088FB9-7105-276E-8DF5-E9614A2F6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54878" y="4245539"/>
              <a:ext cx="1625600" cy="2921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3081623-D447-FEEC-EEE3-51B09E353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7273" y="4261414"/>
              <a:ext cx="914400" cy="254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1909E6E-B3D7-A649-1D53-2F5807660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9934" y="4592697"/>
              <a:ext cx="927100" cy="2667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DCE558-3014-2650-B342-B0479BA60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78944" y="4602748"/>
              <a:ext cx="711200" cy="2286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621985-15CB-B449-78D9-430FF5E56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95356" y="4622172"/>
              <a:ext cx="660400" cy="2159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B65C909-5641-E043-C0CB-B5197EA0E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0380" y="4599421"/>
              <a:ext cx="609600" cy="2286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6440DC0-040F-7E5D-6102-734CFEA40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83656" y="5032946"/>
              <a:ext cx="6286500" cy="355600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80456D39-FA39-9417-E0AA-B9468F32BE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0350" y="5018069"/>
            <a:ext cx="4102100" cy="3429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AD1510C-B602-A05E-94CA-C2DBAC3CBB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7800" y="4541616"/>
            <a:ext cx="850900" cy="292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E0CB43-D5A9-AC23-4ACC-DEC2C7EA949E}"/>
              </a:ext>
            </a:extLst>
          </p:cNvPr>
          <p:cNvSpPr txBox="1"/>
          <p:nvPr/>
        </p:nvSpPr>
        <p:spPr>
          <a:xfrm>
            <a:off x="999934" y="4095768"/>
            <a:ext cx="9252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Angeli (2002)</a:t>
            </a:r>
          </a:p>
        </p:txBody>
      </p:sp>
    </p:spTree>
    <p:extLst>
      <p:ext uri="{BB962C8B-B14F-4D97-AF65-F5344CB8AC3E}">
        <p14:creationId xmlns:p14="http://schemas.microsoft.com/office/powerpoint/2010/main" val="12135739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D9D03-139E-6302-4A6F-9D5EFEB1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input-to-state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0A7B4-6E54-BC3A-7E2F-5630CD8AE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How?</a:t>
            </a:r>
          </a:p>
          <a:p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Approximate closed-loop is perturbation of ‘unrealistic’ closed-loop:</a:t>
            </a:r>
          </a:p>
          <a:p>
            <a:pPr lvl="1"/>
            <a:r>
              <a:rPr lang="en-US" dirty="0">
                <a:cs typeface="Helvetica Neue Medium" panose="02000503000000020004" pitchFamily="2" charset="0"/>
              </a:rPr>
              <a:t>Approximate policy: </a:t>
            </a:r>
          </a:p>
          <a:p>
            <a:pPr lvl="1"/>
            <a:endParaRPr lang="en-US" dirty="0">
              <a:cs typeface="Helvetica Neue Medium" panose="02000503000000020004" pitchFamily="2" charset="0"/>
            </a:endParaRPr>
          </a:p>
          <a:p>
            <a:pPr lvl="1">
              <a:spcBef>
                <a:spcPts val="1100"/>
              </a:spcBef>
            </a:pPr>
            <a:r>
              <a:rPr lang="en-US" dirty="0">
                <a:cs typeface="Helvetica Neue Medium" panose="02000503000000020004" pitchFamily="2" charset="0"/>
              </a:rPr>
              <a:t>‘Unrealistic’ closed-loop:</a:t>
            </a:r>
          </a:p>
          <a:p>
            <a:pPr lvl="1"/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lvl="1">
              <a:spcBef>
                <a:spcPts val="1100"/>
              </a:spcBef>
            </a:pPr>
            <a:r>
              <a:rPr lang="en-US" dirty="0">
                <a:cs typeface="Helvetica Neue Medium" panose="02000503000000020004" pitchFamily="2" charset="0"/>
              </a:rPr>
              <a:t>Approximate closed-loop:</a:t>
            </a:r>
          </a:p>
          <a:p>
            <a:pPr lvl="1"/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lvl="1"/>
            <a:endParaRPr lang="en-US" dirty="0">
              <a:cs typeface="Helvetica Neue Medium" panose="02000503000000020004" pitchFamily="2" charset="0"/>
            </a:endParaRPr>
          </a:p>
          <a:p>
            <a:pPr>
              <a:spcBef>
                <a:spcPts val="2200"/>
              </a:spcBef>
            </a:pP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Apply </a:t>
            </a:r>
            <a:r>
              <a:rPr lang="el-GR" dirty="0">
                <a:cs typeface="Helvetica Neue Medium" panose="02000503000000020004" pitchFamily="2" charset="0"/>
              </a:rPr>
              <a:t>δ</a:t>
            </a:r>
            <a:r>
              <a:rPr lang="en-US" dirty="0">
                <a:cs typeface="Helvetica Neue Medium" panose="02000503000000020004" pitchFamily="2" charset="0"/>
              </a:rPr>
              <a:t>ISS with </a:t>
            </a:r>
            <a:r>
              <a:rPr lang="en-US" dirty="0" err="1">
                <a:latin typeface="LM Roman 10" pitchFamily="2" charset="77"/>
                <a:cs typeface="Helvetica Neue Medium" panose="02000503000000020004" pitchFamily="2" charset="0"/>
              </a:rPr>
              <a:t>Δ</a:t>
            </a:r>
            <a:r>
              <a:rPr lang="en-US" dirty="0">
                <a:latin typeface="LM Roman 10" pitchFamily="2" charset="77"/>
                <a:cs typeface="Helvetica Neue Medium" panose="02000503000000020004" pitchFamily="2" charset="0"/>
              </a:rPr>
              <a:t>(</a:t>
            </a:r>
            <a:r>
              <a:rPr lang="en-US" i="1" dirty="0">
                <a:latin typeface="LM Roman 7" pitchFamily="2" charset="77"/>
                <a:cs typeface="Helvetica Neue Medium" panose="02000503000000020004" pitchFamily="2" charset="0"/>
              </a:rPr>
              <a:t>x</a:t>
            </a:r>
            <a:r>
              <a:rPr lang="en-US" dirty="0">
                <a:latin typeface="LM Roman 10" pitchFamily="2" charset="77"/>
                <a:cs typeface="Helvetica Neue Medium" panose="02000503000000020004" pitchFamily="2" charset="0"/>
              </a:rPr>
              <a:t>)</a:t>
            </a:r>
            <a:r>
              <a:rPr lang="en-US" dirty="0">
                <a:cs typeface="Helvetica Neue Medium" panose="02000503000000020004" pitchFamily="2" charset="0"/>
              </a:rPr>
              <a:t> as input perturbation!</a:t>
            </a: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4D25BA-104A-9D60-D708-D27C93DA6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991" y="3087943"/>
            <a:ext cx="5359400" cy="29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99C47F-3D32-8307-5A77-C66CD8C46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991" y="4673345"/>
            <a:ext cx="4572000" cy="711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7B7C14-FDA2-43EF-B989-D9B0B9B25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5991" y="3880644"/>
            <a:ext cx="3225800" cy="29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148703-57D5-C3A7-71BF-030B5FE6EB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1900" y="2679588"/>
            <a:ext cx="3771900" cy="3038475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A403927-19D6-2340-267D-9792E22D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012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4D5E-8299-FF2C-857A-778CA4C49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Formalizing the design meta-problem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1FB32-A09E-CB50-0984-393A3BEE5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Use similar sequential decomposition to bound input perturbation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Policy decomposition: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spcBef>
                <a:spcPts val="2200"/>
              </a:spcBef>
              <a:buFont typeface="+mj-lt"/>
              <a:buAutoNum type="arabicPeriod"/>
            </a:pPr>
            <a:r>
              <a:rPr lang="en-US" i="1" dirty="0"/>
              <a:t>Design-dependent sector bound </a:t>
            </a:r>
            <a:r>
              <a:rPr lang="en-US" dirty="0"/>
              <a:t>for each approximation of control problem: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spcBef>
                <a:spcPts val="2800"/>
              </a:spcBef>
              <a:buFont typeface="+mj-lt"/>
              <a:buAutoNum type="arabicPeriod"/>
            </a:pPr>
            <a:r>
              <a:rPr lang="en-US" dirty="0"/>
              <a:t>Apply sector bounds with </a:t>
            </a:r>
            <a:r>
              <a:rPr lang="el-GR" dirty="0"/>
              <a:t>δ</a:t>
            </a:r>
            <a:r>
              <a:rPr lang="en-US" dirty="0"/>
              <a:t>ISS and SGC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3C07E3-179B-E617-5DB6-98D7A8496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816" y="2849693"/>
            <a:ext cx="6692900" cy="711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F2DEC-C6D8-C6AD-FC4F-C022AD3F5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30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2DD68E-D616-3A99-CAC1-2AF85BB98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024" y="4284881"/>
            <a:ext cx="54229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000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757F2-5845-4593-9E42-654CB112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717D-E22F-D8AD-5EA7-D83E1341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input-to-state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1520E-44E6-73DC-615F-505C52D74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Putting things together:</a:t>
            </a:r>
          </a:p>
          <a:p>
            <a:r>
              <a:rPr lang="en-US" dirty="0"/>
              <a:t>Analyze closed-loop response with </a:t>
            </a:r>
            <a:r>
              <a:rPr lang="el-GR" dirty="0"/>
              <a:t>δ</a:t>
            </a:r>
            <a:r>
              <a:rPr lang="en-US" dirty="0"/>
              <a:t>ISS under perturbation </a:t>
            </a:r>
            <a:r>
              <a:rPr lang="en-US" dirty="0" err="1">
                <a:solidFill>
                  <a:schemeClr val="bg1"/>
                </a:solidFill>
                <a:latin typeface="LM Roman 10" pitchFamily="2" charset="77"/>
                <a:cs typeface="Helvetica Neue Medium" panose="02000503000000020004" pitchFamily="2" charset="0"/>
              </a:rPr>
              <a:t>Δ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/>
              <a:t>Use sector bound in combination w/ </a:t>
            </a:r>
            <a:r>
              <a:rPr lang="en-US" i="1" dirty="0"/>
              <a:t>small-gain condition </a:t>
            </a: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SGC</a:t>
            </a:r>
            <a:r>
              <a:rPr lang="en-US" dirty="0"/>
              <a:t>)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Under sector bound &amp; </a:t>
            </a:r>
            <a:r>
              <a:rPr lang="el-GR" dirty="0"/>
              <a:t>δ</a:t>
            </a:r>
            <a:r>
              <a:rPr lang="en-US" dirty="0"/>
              <a:t>ISS     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informally and simplified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Design-dependent stability condition → Ensured by </a:t>
            </a:r>
            <a:r>
              <a:rPr lang="en-US" i="1" dirty="0"/>
              <a:t>tuning</a:t>
            </a:r>
            <a:r>
              <a:rPr lang="en-US" dirty="0"/>
              <a:t> sector bound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7F589-539B-4C12-B862-645DD24B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BAF1BF-382F-D9C2-3781-411191C07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10" y="2319185"/>
            <a:ext cx="2349500" cy="292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7BC690-CEB0-679F-5B65-1B12D1A1A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848" y="3593758"/>
            <a:ext cx="266700" cy="2794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91EE81F-D5EC-33ED-0C55-409FE6C5E24A}"/>
              </a:ext>
            </a:extLst>
          </p:cNvPr>
          <p:cNvGrpSpPr/>
          <p:nvPr/>
        </p:nvGrpSpPr>
        <p:grpSpPr>
          <a:xfrm>
            <a:off x="8770528" y="4056998"/>
            <a:ext cx="3126745" cy="1513690"/>
            <a:chOff x="8770528" y="4298236"/>
            <a:chExt cx="3126745" cy="1513690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B90B2D6-9179-339D-A4B6-1BFEA79092FE}"/>
                </a:ext>
              </a:extLst>
            </p:cNvPr>
            <p:cNvSpPr/>
            <p:nvPr/>
          </p:nvSpPr>
          <p:spPr>
            <a:xfrm>
              <a:off x="8770528" y="4298236"/>
              <a:ext cx="3126745" cy="1513690"/>
            </a:xfrm>
            <a:prstGeom prst="roundRect">
              <a:avLst>
                <a:gd name="adj" fmla="val 16455"/>
              </a:avLst>
            </a:prstGeom>
            <a:solidFill>
              <a:srgbClr val="FFC000">
                <a:alpha val="5961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Recall</a:t>
              </a:r>
            </a:p>
            <a:p>
              <a:pPr algn="ctr"/>
              <a:endParaRPr lang="en-US" sz="2200" i="1" dirty="0">
                <a:solidFill>
                  <a:schemeClr val="tx1"/>
                </a:solidFill>
                <a:latin typeface="LM Roman 10" pitchFamily="2" charset="77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7A1ED2F-A29A-E771-16B3-5EC51805B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86100" y="4827811"/>
              <a:ext cx="2895600" cy="7493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F2C501-6009-BA07-6B02-86933D40DD47}"/>
              </a:ext>
            </a:extLst>
          </p:cNvPr>
          <p:cNvGrpSpPr/>
          <p:nvPr/>
        </p:nvGrpSpPr>
        <p:grpSpPr>
          <a:xfrm>
            <a:off x="1083130" y="4008804"/>
            <a:ext cx="7527469" cy="1610078"/>
            <a:chOff x="1083130" y="4008804"/>
            <a:chExt cx="7527469" cy="1610078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FEDDCBEF-F7A2-0DA4-DD84-5BC19D761E9B}"/>
                </a:ext>
              </a:extLst>
            </p:cNvPr>
            <p:cNvSpPr/>
            <p:nvPr/>
          </p:nvSpPr>
          <p:spPr>
            <a:xfrm>
              <a:off x="1083130" y="4008804"/>
              <a:ext cx="7527469" cy="1610078"/>
            </a:xfrm>
            <a:prstGeom prst="roundRect">
              <a:avLst>
                <a:gd name="adj" fmla="val 8651"/>
              </a:avLst>
            </a:prstGeom>
            <a:solidFill>
              <a:srgbClr val="00B0F0">
                <a:alpha val="1995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200" dirty="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If approx. with                   is such that SGC</a:t>
              </a:r>
            </a:p>
            <a:p>
              <a:endPara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2200" dirty="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holds, then</a:t>
              </a:r>
            </a:p>
            <a:p>
              <a:pPr>
                <a:spcBef>
                  <a:spcPts val="1200"/>
                </a:spcBef>
              </a:pPr>
              <a:endPara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86106FF-32CC-9FE8-3AD1-8DDB8002D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26603" y="5167025"/>
              <a:ext cx="4508500" cy="3556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CB74BA3-CADC-66DC-2072-F4FC2A681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38250" y="4096077"/>
              <a:ext cx="1308100" cy="3048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970FD3-9E05-A1B5-5AD1-FFCB5A50C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26603" y="4465756"/>
              <a:ext cx="3505200" cy="34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58100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6A807-0824-AED0-4BD7-BAA3FBB8A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B01B-7BD4-51B4-583A-E86D7B14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input-to-state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EC9C6-4AA6-F23E-460E-2D6DB3EEF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Putting things together:</a:t>
            </a:r>
          </a:p>
          <a:p>
            <a:r>
              <a:rPr lang="en-US" noProof="0" dirty="0"/>
              <a:t>Stability condition for approximate policies: ✅</a:t>
            </a:r>
          </a:p>
          <a:p>
            <a:r>
              <a:rPr lang="en-US" noProof="0" dirty="0"/>
              <a:t>Bound performance gap for given approximate policies</a:t>
            </a:r>
          </a:p>
          <a:p>
            <a:endParaRPr lang="en-US" noProof="0" dirty="0"/>
          </a:p>
          <a:p>
            <a:pPr>
              <a:buFont typeface="Wingdings" pitchFamily="2" charset="2"/>
              <a:buChar char="Ø"/>
            </a:pPr>
            <a:r>
              <a:rPr lang="en-US" noProof="0" dirty="0"/>
              <a:t> We can show under SGC &amp; regularity of cost: (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informally and simplified</a:t>
            </a:r>
            <a:r>
              <a:rPr lang="en-US" noProof="0" dirty="0"/>
              <a:t>)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Bounding performance gap: Ensured by </a:t>
            </a:r>
            <a:r>
              <a:rPr lang="en-US" i="1" dirty="0"/>
              <a:t>tuning</a:t>
            </a:r>
            <a:r>
              <a:rPr lang="en-US" dirty="0"/>
              <a:t> sector bound!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5BC33-A9F0-6136-E54B-4F53611C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32</a:t>
            </a:fld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EFAFE99-B3FC-3902-CA51-7265E495FA12}"/>
              </a:ext>
            </a:extLst>
          </p:cNvPr>
          <p:cNvSpPr/>
          <p:nvPr/>
        </p:nvSpPr>
        <p:spPr>
          <a:xfrm>
            <a:off x="8721988" y="4344152"/>
            <a:ext cx="3126745" cy="939382"/>
          </a:xfrm>
          <a:prstGeom prst="roundRect">
            <a:avLst>
              <a:gd name="adj" fmla="val 16455"/>
            </a:avLst>
          </a:prstGeom>
          <a:solidFill>
            <a:srgbClr val="FFC000">
              <a:alpha val="596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Performance gap scales linearly with </a:t>
            </a:r>
            <a:r>
              <a:rPr lang="en-US" sz="2200" i="1" dirty="0">
                <a:solidFill>
                  <a:schemeClr val="tx1"/>
                </a:solidFill>
                <a:latin typeface="LM Roman 10" pitchFamily="2" charset="77"/>
                <a:ea typeface="Helvetica Neue Medium" panose="02000503000000020004" pitchFamily="2" charset="0"/>
                <a:cs typeface="Helvetica Neue Medium" panose="02000503000000020004" pitchFamily="2" charset="0"/>
              </a:rPr>
              <a:t>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BB8116-E566-D512-2EDD-3E48EE684A95}"/>
              </a:ext>
            </a:extLst>
          </p:cNvPr>
          <p:cNvGrpSpPr/>
          <p:nvPr/>
        </p:nvGrpSpPr>
        <p:grpSpPr>
          <a:xfrm>
            <a:off x="1083130" y="4008804"/>
            <a:ext cx="7527469" cy="1610078"/>
            <a:chOff x="1083130" y="4008804"/>
            <a:chExt cx="7527469" cy="161007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F0E690E-30CF-7DBE-C34E-B38D05D0FCA0}"/>
                </a:ext>
              </a:extLst>
            </p:cNvPr>
            <p:cNvSpPr/>
            <p:nvPr/>
          </p:nvSpPr>
          <p:spPr>
            <a:xfrm>
              <a:off x="1083130" y="4008804"/>
              <a:ext cx="7527469" cy="1610078"/>
            </a:xfrm>
            <a:prstGeom prst="roundRect">
              <a:avLst>
                <a:gd name="adj" fmla="val 8651"/>
              </a:avLst>
            </a:prstGeom>
            <a:solidFill>
              <a:srgbClr val="00B0F0">
                <a:alpha val="1995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200" dirty="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If</a:t>
              </a:r>
            </a:p>
            <a:p>
              <a:endPara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2200" dirty="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Then</a:t>
              </a:r>
            </a:p>
            <a:p>
              <a:pPr>
                <a:spcBef>
                  <a:spcPts val="1200"/>
                </a:spcBef>
              </a:pPr>
              <a:endPara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4F95C7A-D1B3-163B-B1A2-CCA73BA42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3559" y="4412676"/>
              <a:ext cx="6413500" cy="2921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0DCC40B-2939-965D-8BA1-56F46EB9F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3559" y="5205748"/>
              <a:ext cx="4521200" cy="292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80478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DAB22-037E-653D-FDB8-DE95EDA9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4D37-40E9-380B-731C-98E36C92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Formalizing the design meta-problem</a:t>
            </a:r>
          </a:p>
        </p:txBody>
      </p:sp>
      <p:sp>
        <p:nvSpPr>
          <p:cNvPr id="3" name="!!WUT">
            <a:extLst>
              <a:ext uri="{FF2B5EF4-FFF2-40B4-BE49-F238E27FC236}">
                <a16:creationId xmlns:a16="http://schemas.microsoft.com/office/drawing/2014/main" id="{0D7520F4-9E30-5AA6-AEC2-FFCE88F07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All ingredients present!</a:t>
            </a:r>
          </a:p>
          <a:p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81B85E4-A738-0A27-5C24-E54FF386611A}"/>
              </a:ext>
            </a:extLst>
          </p:cNvPr>
          <p:cNvSpPr/>
          <p:nvPr/>
        </p:nvSpPr>
        <p:spPr>
          <a:xfrm>
            <a:off x="39394" y="2334093"/>
            <a:ext cx="6382671" cy="3014083"/>
          </a:xfrm>
          <a:prstGeom prst="roundRect">
            <a:avLst>
              <a:gd name="adj" fmla="val 10123"/>
            </a:avLst>
          </a:prstGeom>
          <a:solidFill>
            <a:srgbClr val="FFC000">
              <a:alpha val="596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Informal design meta-problem:</a:t>
            </a:r>
            <a:endParaRPr lang="en-US" sz="2200" i="1" dirty="0">
              <a:solidFill>
                <a:schemeClr val="tx1"/>
              </a:solidFill>
              <a:latin typeface="LM Roman 10" pitchFamily="2" charset="77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436ED66-CB01-2621-B73A-9B89505F5A52}"/>
              </a:ext>
            </a:extLst>
          </p:cNvPr>
          <p:cNvSpPr/>
          <p:nvPr/>
        </p:nvSpPr>
        <p:spPr>
          <a:xfrm>
            <a:off x="6507160" y="2334092"/>
            <a:ext cx="5645446" cy="3014083"/>
          </a:xfrm>
          <a:prstGeom prst="roundRect">
            <a:avLst>
              <a:gd name="adj" fmla="val 10123"/>
            </a:avLst>
          </a:prstGeom>
          <a:solidFill>
            <a:srgbClr val="92D050">
              <a:alpha val="596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Formalized design meta-problem:</a:t>
            </a:r>
            <a:endParaRPr lang="en-US" sz="2200" i="1" dirty="0">
              <a:solidFill>
                <a:schemeClr val="tx1"/>
              </a:solidFill>
              <a:latin typeface="LM Roman 10" pitchFamily="2" charset="77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" name="!!Inf">
            <a:extLst>
              <a:ext uri="{FF2B5EF4-FFF2-40B4-BE49-F238E27FC236}">
                <a16:creationId xmlns:a16="http://schemas.microsoft.com/office/drawing/2014/main" id="{EDE884CF-69E3-2B43-5923-A045F0CE578E}"/>
              </a:ext>
            </a:extLst>
          </p:cNvPr>
          <p:cNvSpPr/>
          <p:nvPr/>
        </p:nvSpPr>
        <p:spPr>
          <a:xfrm>
            <a:off x="1420485" y="2844999"/>
            <a:ext cx="4872399" cy="474785"/>
          </a:xfrm>
          <a:prstGeom prst="roundRect">
            <a:avLst>
              <a:gd name="adj" fmla="val 27778"/>
            </a:avLst>
          </a:prstGeom>
          <a:solidFill>
            <a:srgbClr val="D6F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For">
            <a:extLst>
              <a:ext uri="{FF2B5EF4-FFF2-40B4-BE49-F238E27FC236}">
                <a16:creationId xmlns:a16="http://schemas.microsoft.com/office/drawing/2014/main" id="{0278551B-3250-D9E8-8C70-825C3AF23934}"/>
              </a:ext>
            </a:extLst>
          </p:cNvPr>
          <p:cNvSpPr/>
          <p:nvPr/>
        </p:nvSpPr>
        <p:spPr>
          <a:xfrm>
            <a:off x="7974597" y="2844999"/>
            <a:ext cx="2658568" cy="474785"/>
          </a:xfrm>
          <a:prstGeom prst="roundRect">
            <a:avLst>
              <a:gd name="adj" fmla="val 27778"/>
            </a:avLst>
          </a:prstGeom>
          <a:solidFill>
            <a:srgbClr val="D6F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CDD7C-0915-57B9-631A-7C393848C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58"/>
          <a:stretch>
            <a:fillRect/>
          </a:stretch>
        </p:blipFill>
        <p:spPr>
          <a:xfrm>
            <a:off x="124489" y="2952549"/>
            <a:ext cx="6083300" cy="221964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092328-7FED-B17B-5DA9-1DA9ED74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33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802C41-D3B3-9731-23D3-0B8E15D7B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158" y="2971183"/>
            <a:ext cx="53213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657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9CAAA-8696-09C5-1F39-842FC96B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0BD2-328C-1106-FB4E-2CBDD5A26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Formalizing the design meta-problem</a:t>
            </a:r>
          </a:p>
        </p:txBody>
      </p:sp>
      <p:sp>
        <p:nvSpPr>
          <p:cNvPr id="3" name="!!WUT">
            <a:extLst>
              <a:ext uri="{FF2B5EF4-FFF2-40B4-BE49-F238E27FC236}">
                <a16:creationId xmlns:a16="http://schemas.microsoft.com/office/drawing/2014/main" id="{F8C7A886-CFC7-1C26-3604-E63B4F62E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All ingredients present!</a:t>
            </a:r>
          </a:p>
          <a:p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3E6632D-8A1B-9D35-6CE4-783BDA7F01D9}"/>
              </a:ext>
            </a:extLst>
          </p:cNvPr>
          <p:cNvSpPr/>
          <p:nvPr/>
        </p:nvSpPr>
        <p:spPr>
          <a:xfrm>
            <a:off x="39394" y="2334093"/>
            <a:ext cx="6382671" cy="3014083"/>
          </a:xfrm>
          <a:prstGeom prst="roundRect">
            <a:avLst>
              <a:gd name="adj" fmla="val 10123"/>
            </a:avLst>
          </a:prstGeom>
          <a:solidFill>
            <a:srgbClr val="FFC000">
              <a:alpha val="596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Informal design meta-problem:</a:t>
            </a:r>
            <a:endParaRPr lang="en-US" sz="2200" i="1" dirty="0">
              <a:solidFill>
                <a:schemeClr val="tx1"/>
              </a:solidFill>
              <a:latin typeface="LM Roman 10" pitchFamily="2" charset="77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AEE70B6-E933-3FF9-2A23-1CC5B7CCA48E}"/>
              </a:ext>
            </a:extLst>
          </p:cNvPr>
          <p:cNvSpPr/>
          <p:nvPr/>
        </p:nvSpPr>
        <p:spPr>
          <a:xfrm>
            <a:off x="6507160" y="2334092"/>
            <a:ext cx="5645446" cy="3014083"/>
          </a:xfrm>
          <a:prstGeom prst="roundRect">
            <a:avLst>
              <a:gd name="adj" fmla="val 10123"/>
            </a:avLst>
          </a:prstGeom>
          <a:solidFill>
            <a:srgbClr val="92D050">
              <a:alpha val="596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Formalized design meta-problem:</a:t>
            </a:r>
            <a:endParaRPr lang="en-US" sz="2200" i="1" dirty="0">
              <a:solidFill>
                <a:schemeClr val="tx1"/>
              </a:solidFill>
              <a:latin typeface="LM Roman 10" pitchFamily="2" charset="77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" name="!!Inf">
            <a:extLst>
              <a:ext uri="{FF2B5EF4-FFF2-40B4-BE49-F238E27FC236}">
                <a16:creationId xmlns:a16="http://schemas.microsoft.com/office/drawing/2014/main" id="{5123904B-37D6-D4B3-31A8-ABD07F58DD1C}"/>
              </a:ext>
            </a:extLst>
          </p:cNvPr>
          <p:cNvSpPr/>
          <p:nvPr/>
        </p:nvSpPr>
        <p:spPr>
          <a:xfrm>
            <a:off x="1420485" y="3499563"/>
            <a:ext cx="4872399" cy="1285088"/>
          </a:xfrm>
          <a:prstGeom prst="roundRect">
            <a:avLst>
              <a:gd name="adj" fmla="val 17022"/>
            </a:avLst>
          </a:prstGeom>
          <a:solidFill>
            <a:srgbClr val="D6F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BFE9A7-4933-C903-1304-0CE4B3FBF0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58"/>
          <a:stretch>
            <a:fillRect/>
          </a:stretch>
        </p:blipFill>
        <p:spPr>
          <a:xfrm>
            <a:off x="124489" y="2952549"/>
            <a:ext cx="6083300" cy="2219642"/>
          </a:xfrm>
          <a:prstGeom prst="rect">
            <a:avLst/>
          </a:prstGeom>
        </p:spPr>
      </p:pic>
      <p:sp>
        <p:nvSpPr>
          <p:cNvPr id="15" name="!!For">
            <a:extLst>
              <a:ext uri="{FF2B5EF4-FFF2-40B4-BE49-F238E27FC236}">
                <a16:creationId xmlns:a16="http://schemas.microsoft.com/office/drawing/2014/main" id="{869D69F0-3C91-7035-C89B-59A9EAB813F8}"/>
              </a:ext>
            </a:extLst>
          </p:cNvPr>
          <p:cNvSpPr/>
          <p:nvPr/>
        </p:nvSpPr>
        <p:spPr>
          <a:xfrm>
            <a:off x="7978251" y="3476071"/>
            <a:ext cx="4029332" cy="898502"/>
          </a:xfrm>
          <a:prstGeom prst="roundRect">
            <a:avLst>
              <a:gd name="adj" fmla="val 15859"/>
            </a:avLst>
          </a:prstGeom>
          <a:solidFill>
            <a:srgbClr val="D6F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293D5-CFEA-8BA1-D968-ED9EAD27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34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D6E5BB-C05B-AA23-3B47-5040E469A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158" y="2971183"/>
            <a:ext cx="53213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1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7C444-941A-EE41-81BE-EF33F1893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F246-6D46-D188-0C37-FA4A6CE7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Formalizing the design meta-problem</a:t>
            </a:r>
          </a:p>
        </p:txBody>
      </p:sp>
      <p:sp>
        <p:nvSpPr>
          <p:cNvPr id="3" name="!!WUT">
            <a:extLst>
              <a:ext uri="{FF2B5EF4-FFF2-40B4-BE49-F238E27FC236}">
                <a16:creationId xmlns:a16="http://schemas.microsoft.com/office/drawing/2014/main" id="{37564B63-E4B9-9913-D725-BAF6E5D0D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All ingredients present!</a:t>
            </a:r>
          </a:p>
          <a:p>
            <a:pPr marL="0" indent="0">
              <a:buNone/>
            </a:pPr>
            <a:endParaRPr lang="en-US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  <a:p>
            <a:pPr marL="0" indent="0">
              <a:buNone/>
            </a:pPr>
            <a:endParaRPr lang="en-US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  <a:p>
            <a:pPr marL="0" indent="0">
              <a:buNone/>
            </a:pPr>
            <a:endParaRPr lang="en-US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  <a:p>
            <a:pPr marL="0" indent="0">
              <a:buNone/>
            </a:pPr>
            <a:endParaRPr lang="en-US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  <a:p>
            <a:pPr marL="0" indent="0">
              <a:buNone/>
            </a:pPr>
            <a:endParaRPr lang="en-US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  <a:p>
            <a:pPr marL="0" indent="0">
              <a:buNone/>
            </a:pPr>
            <a:endParaRPr lang="en-US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  <a:p>
            <a:pPr marL="0" indent="0">
              <a:buNone/>
            </a:pPr>
            <a:endParaRPr lang="en-US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  <a:p>
            <a:pPr>
              <a:spcBef>
                <a:spcPts val="2200"/>
              </a:spcBef>
              <a:buFont typeface="Wingdings" pitchFamily="2" charset="2"/>
              <a:buChar char="Ø"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Joint analysis of design approx., subj. to stability, performance and compute!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Optimize design dependent sector bounds on policy difference</a:t>
            </a:r>
          </a:p>
          <a:p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27AA4D3-F62D-9F85-F663-563B10724AAE}"/>
              </a:ext>
            </a:extLst>
          </p:cNvPr>
          <p:cNvSpPr/>
          <p:nvPr/>
        </p:nvSpPr>
        <p:spPr>
          <a:xfrm>
            <a:off x="39394" y="2334093"/>
            <a:ext cx="6382671" cy="3014083"/>
          </a:xfrm>
          <a:prstGeom prst="roundRect">
            <a:avLst>
              <a:gd name="adj" fmla="val 10123"/>
            </a:avLst>
          </a:prstGeom>
          <a:solidFill>
            <a:srgbClr val="FFC000">
              <a:alpha val="596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Informal design meta-problem:</a:t>
            </a:r>
            <a:endParaRPr lang="en-US" sz="2200" i="1" dirty="0">
              <a:solidFill>
                <a:schemeClr val="tx1"/>
              </a:solidFill>
              <a:latin typeface="LM Roman 10" pitchFamily="2" charset="77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3F9DC59-1D1B-9C0D-E59F-824AECAFE02D}"/>
              </a:ext>
            </a:extLst>
          </p:cNvPr>
          <p:cNvSpPr/>
          <p:nvPr/>
        </p:nvSpPr>
        <p:spPr>
          <a:xfrm>
            <a:off x="6507160" y="2334092"/>
            <a:ext cx="5645446" cy="3014083"/>
          </a:xfrm>
          <a:prstGeom prst="roundRect">
            <a:avLst>
              <a:gd name="adj" fmla="val 10123"/>
            </a:avLst>
          </a:prstGeom>
          <a:solidFill>
            <a:srgbClr val="92D050">
              <a:alpha val="596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Formalized design meta-problem:</a:t>
            </a:r>
            <a:endParaRPr lang="en-US" sz="2200" i="1" dirty="0">
              <a:solidFill>
                <a:schemeClr val="tx1"/>
              </a:solidFill>
              <a:latin typeface="LM Roman 10" pitchFamily="2" charset="77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" name="!!Inf">
            <a:extLst>
              <a:ext uri="{FF2B5EF4-FFF2-40B4-BE49-F238E27FC236}">
                <a16:creationId xmlns:a16="http://schemas.microsoft.com/office/drawing/2014/main" id="{C2BA6714-A559-783B-87FB-88D8D64BDB61}"/>
              </a:ext>
            </a:extLst>
          </p:cNvPr>
          <p:cNvSpPr/>
          <p:nvPr/>
        </p:nvSpPr>
        <p:spPr>
          <a:xfrm>
            <a:off x="1488558" y="4784651"/>
            <a:ext cx="2413592" cy="387540"/>
          </a:xfrm>
          <a:prstGeom prst="roundRect">
            <a:avLst>
              <a:gd name="adj" fmla="val 17022"/>
            </a:avLst>
          </a:prstGeom>
          <a:solidFill>
            <a:srgbClr val="D6F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6B660-2345-7647-B28E-330FE34BA1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58"/>
          <a:stretch>
            <a:fillRect/>
          </a:stretch>
        </p:blipFill>
        <p:spPr>
          <a:xfrm>
            <a:off x="124489" y="2952549"/>
            <a:ext cx="6083300" cy="2219642"/>
          </a:xfrm>
          <a:prstGeom prst="rect">
            <a:avLst/>
          </a:prstGeom>
        </p:spPr>
      </p:pic>
      <p:sp>
        <p:nvSpPr>
          <p:cNvPr id="6" name="!!For">
            <a:extLst>
              <a:ext uri="{FF2B5EF4-FFF2-40B4-BE49-F238E27FC236}">
                <a16:creationId xmlns:a16="http://schemas.microsoft.com/office/drawing/2014/main" id="{F840B7D4-BB29-C741-F730-653B944F6DA2}"/>
              </a:ext>
            </a:extLst>
          </p:cNvPr>
          <p:cNvSpPr/>
          <p:nvPr/>
        </p:nvSpPr>
        <p:spPr>
          <a:xfrm>
            <a:off x="7961307" y="4358500"/>
            <a:ext cx="2413592" cy="387540"/>
          </a:xfrm>
          <a:prstGeom prst="roundRect">
            <a:avLst>
              <a:gd name="adj" fmla="val 17022"/>
            </a:avLst>
          </a:prstGeom>
          <a:solidFill>
            <a:srgbClr val="D6F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4E6AF7-8F38-FB96-2235-1E035F9D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35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A11D00-26C9-1F7F-58D3-99F08B92B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158" y="2971183"/>
            <a:ext cx="53213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16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CA4E-3F57-2693-802D-0CA6259C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AB14-BB17-3135-1EBA-0C6337513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64017-147B-0B7B-04D2-4F8A6339B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 and 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The design meta-problem</a:t>
            </a:r>
          </a:p>
          <a:p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 simple example</a:t>
            </a:r>
          </a:p>
          <a:p>
            <a:r>
              <a:rPr lang="en-US" dirty="0"/>
              <a:t>A step back</a:t>
            </a:r>
          </a:p>
          <a:p>
            <a:r>
              <a:rPr lang="en-US" dirty="0"/>
              <a:t>Conclusions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07C65-C489-D83C-519C-C4F96814C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825" y="1973872"/>
            <a:ext cx="3713084" cy="291025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9F31C-2180-CB16-0899-1E73A4119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20432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5CD8-4585-1E7E-21B0-D6D03A8B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FD288-6AF7-0B9C-CD76-60CA2CD42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Stylized LQR problem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Given </a:t>
            </a:r>
            <a:r>
              <a:rPr lang="en-US" i="1" dirty="0">
                <a:latin typeface="LM Roman 8" pitchFamily="2" charset="77"/>
              </a:rPr>
              <a:t>A</a:t>
            </a: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US" i="1" dirty="0">
                <a:latin typeface="LM Roman 8" pitchFamily="2" charset="77"/>
              </a:rPr>
              <a:t>B</a:t>
            </a: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US" i="1" dirty="0">
                <a:latin typeface="LM Roman 8" pitchFamily="2" charset="77"/>
              </a:rPr>
              <a:t>Q</a:t>
            </a: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US" i="1" dirty="0">
                <a:latin typeface="LM Roman 8" pitchFamily="2" charset="77"/>
              </a:rPr>
              <a:t>R </a:t>
            </a:r>
            <a:r>
              <a:rPr lang="en-US" dirty="0"/>
              <a:t>: solution      is analytic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Assume base problem is intractable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Order of approximations: ROM </a:t>
            </a:r>
            <a:r>
              <a:rPr lang="en-US" dirty="0">
                <a:sym typeface="Wingdings" pitchFamily="2" charset="2"/>
              </a:rPr>
              <a:t>→ Discretize → Finite Horizon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ym typeface="Wingdings" pitchFamily="2" charset="2"/>
              </a:rPr>
              <a:t> Online computational load 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Wingdings" pitchFamily="2" charset="2"/>
              </a:rPr>
              <a:t>T</a:t>
            </a:r>
            <a:r>
              <a:rPr lang="en-US" dirty="0">
                <a:sym typeface="Wingdings" pitchFamily="2" charset="2"/>
              </a:rPr>
              <a:t>: flops required for Riccati recursions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CF2A6-F551-9E04-1C64-A775828AB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85" y="2313398"/>
            <a:ext cx="4343400" cy="18923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6A6C3BF-B415-8DBF-D55A-81114A479845}"/>
              </a:ext>
            </a:extLst>
          </p:cNvPr>
          <p:cNvSpPr/>
          <p:nvPr/>
        </p:nvSpPr>
        <p:spPr>
          <a:xfrm>
            <a:off x="6389649" y="1825625"/>
            <a:ext cx="5374888" cy="2991701"/>
          </a:xfrm>
          <a:prstGeom prst="roundRect">
            <a:avLst>
              <a:gd name="adj" fmla="val 11819"/>
            </a:avLst>
          </a:prstGeom>
          <a:solidFill>
            <a:srgbClr val="FFC000">
              <a:alpha val="596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 can show: 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</a:p>
          <a:p>
            <a:pPr algn="ctr">
              <a:spcBef>
                <a:spcPts val="1200"/>
              </a:spcBef>
            </a:pP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(see paper for details)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F2170B-5598-54BA-1BD9-E5C75B732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169" y="3286326"/>
            <a:ext cx="3365500" cy="29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52513E-CBE8-25D1-1827-B68AC6D82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169" y="3875498"/>
            <a:ext cx="4762500" cy="33020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B0A0069-7B56-0F1A-1628-8225F9A7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19925E-F0FD-CCC5-3D10-C8AE03151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0169" y="2633207"/>
            <a:ext cx="4584700" cy="292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6E3BFE-C7B9-3078-1820-BE745C27F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3856" y="4474396"/>
            <a:ext cx="342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96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907A7-FC2E-7155-AE5E-5E53A713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B02C-6378-1EDC-5D4F-D4224B7B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27835-4163-AC0F-1A74-53EB9995A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Constructing the LQR DMP</a:t>
            </a:r>
          </a:p>
          <a:p>
            <a:r>
              <a:rPr lang="en-US" dirty="0"/>
              <a:t>Constants </a:t>
            </a:r>
            <a:r>
              <a:rPr lang="en-US" i="1" dirty="0">
                <a:latin typeface="LM Roman 8" pitchFamily="2" charset="77"/>
              </a:rPr>
              <a:t>C</a:t>
            </a:r>
            <a:r>
              <a:rPr lang="en-US" i="1" baseline="-25000" dirty="0">
                <a:latin typeface="LM Roman 8" pitchFamily="2" charset="77"/>
              </a:rPr>
              <a:t>i</a:t>
            </a:r>
            <a:r>
              <a:rPr lang="en-US" dirty="0"/>
              <a:t> dependent on system:</a:t>
            </a:r>
          </a:p>
          <a:p>
            <a:pPr lvl="1"/>
            <a:r>
              <a:rPr lang="en-US" dirty="0"/>
              <a:t>Obtain empirically</a:t>
            </a:r>
          </a:p>
          <a:p>
            <a:r>
              <a:rPr lang="en-US" dirty="0"/>
              <a:t>SGC directly from Lyapunov condition</a:t>
            </a:r>
          </a:p>
          <a:p>
            <a:pPr lvl="7"/>
            <a:endParaRPr lang="en-US" dirty="0"/>
          </a:p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Substitute in DMP: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E8C433-CBD7-6305-B390-31774B9C9BA6}"/>
              </a:ext>
            </a:extLst>
          </p:cNvPr>
          <p:cNvSpPr/>
          <p:nvPr/>
        </p:nvSpPr>
        <p:spPr>
          <a:xfrm>
            <a:off x="6389649" y="1825625"/>
            <a:ext cx="5374888" cy="2991701"/>
          </a:xfrm>
          <a:prstGeom prst="roundRect">
            <a:avLst>
              <a:gd name="adj" fmla="val 11819"/>
            </a:avLst>
          </a:prstGeom>
          <a:solidFill>
            <a:srgbClr val="FFC000">
              <a:alpha val="596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 can show: 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</a:p>
          <a:p>
            <a:pPr algn="ctr">
              <a:spcBef>
                <a:spcPts val="1200"/>
              </a:spcBef>
            </a:pP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(see paper for details)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7AAD2E-0F5E-B1EE-1780-97831C648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169" y="3286326"/>
            <a:ext cx="3365500" cy="29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159607-02B9-B05C-8B7F-192D20803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169" y="3875498"/>
            <a:ext cx="4762500" cy="330200"/>
          </a:xfrm>
          <a:prstGeom prst="rect">
            <a:avLst/>
          </a:prstGeom>
        </p:spPr>
      </p:pic>
      <p:sp>
        <p:nvSpPr>
          <p:cNvPr id="14" name="!!ShapeForMorph">
            <a:extLst>
              <a:ext uri="{FF2B5EF4-FFF2-40B4-BE49-F238E27FC236}">
                <a16:creationId xmlns:a16="http://schemas.microsoft.com/office/drawing/2014/main" id="{8FFD60D7-2952-3617-4E26-FF7410809E89}"/>
              </a:ext>
            </a:extLst>
          </p:cNvPr>
          <p:cNvSpPr/>
          <p:nvPr/>
        </p:nvSpPr>
        <p:spPr>
          <a:xfrm>
            <a:off x="8499088" y="4985572"/>
            <a:ext cx="2183780" cy="958028"/>
          </a:xfrm>
          <a:prstGeom prst="roundRect">
            <a:avLst>
              <a:gd name="adj" fmla="val 10893"/>
            </a:avLst>
          </a:prstGeom>
          <a:solidFill>
            <a:srgbClr val="00B0F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Discrete in  continuous in </a:t>
            </a:r>
            <a:endParaRPr lang="en-US" sz="2200" dirty="0">
              <a:solidFill>
                <a:schemeClr val="tx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489C5C-A6E6-D0CB-A002-DE9432F82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044" y="5203384"/>
            <a:ext cx="31750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21EF75-B527-B44D-44CB-70BB82D2B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147" y="5614251"/>
            <a:ext cx="139700" cy="127000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70D0922-ABB1-0E61-3267-A09ED229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F51F7A-15AC-62ED-46E4-C908EA56E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744" y="4327718"/>
            <a:ext cx="7035800" cy="1841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E12C9-97CA-20FC-E578-E74ED944F6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0169" y="2633207"/>
            <a:ext cx="45847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139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0CC0E81E-8285-CB8F-81F5-7944AA422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" y="3358495"/>
            <a:ext cx="3200400" cy="28829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CA726F4-0B60-D3D0-26FA-736BF53F6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0" y="3358495"/>
            <a:ext cx="3175000" cy="28829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68AF9DF-DB77-2246-AA7B-28F1FF848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550" y="3358495"/>
            <a:ext cx="3200400" cy="288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235F3B-E74C-381D-0860-6EA24940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891C7-50FF-5288-3CC4-D48BADED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Some </a:t>
            </a:r>
            <a:r>
              <a:rPr lang="en-US" dirty="0" err="1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numerics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:</a:t>
            </a:r>
            <a:r>
              <a:rPr lang="en-US" dirty="0"/>
              <a:t> True system: </a:t>
            </a:r>
            <a:r>
              <a:rPr lang="en-US" dirty="0" err="1"/>
              <a:t>n</a:t>
            </a:r>
            <a:r>
              <a:rPr lang="en-US" baseline="-25000" dirty="0" err="1"/>
              <a:t>x</a:t>
            </a:r>
            <a:r>
              <a:rPr lang="en-US" dirty="0"/>
              <a:t> = 97 with 3 dominant poles</a:t>
            </a:r>
          </a:p>
          <a:p>
            <a:r>
              <a:rPr lang="en-US" dirty="0"/>
              <a:t>Compute </a:t>
            </a:r>
            <a:r>
              <a:rPr lang="en-US" i="1" dirty="0">
                <a:solidFill>
                  <a:schemeClr val="bg1"/>
                </a:solidFill>
                <a:latin typeface="LM Roman 8" pitchFamily="2" charset="77"/>
              </a:rPr>
              <a:t>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                     for               and some   : fit functional form!</a:t>
            </a:r>
          </a:p>
          <a:p>
            <a:r>
              <a:rPr lang="en-US" dirty="0"/>
              <a:t>Plot </a:t>
            </a:r>
            <a:r>
              <a:rPr lang="en-US" dirty="0">
                <a:solidFill>
                  <a:srgbClr val="4E92CD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left-hand</a:t>
            </a:r>
            <a:r>
              <a:rPr lang="en-US" dirty="0">
                <a:solidFill>
                  <a:srgbClr val="4E92CD"/>
                </a:solidFill>
              </a:rPr>
              <a:t> </a:t>
            </a:r>
            <a:r>
              <a:rPr lang="en-US" dirty="0"/>
              <a:t>side and </a:t>
            </a:r>
            <a:r>
              <a:rPr lang="en-US" dirty="0">
                <a:solidFill>
                  <a:srgbClr val="FF0000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right-hand</a:t>
            </a:r>
            <a:r>
              <a:rPr lang="en-US" dirty="0"/>
              <a:t> side of SGC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BF07E53-6897-B0B5-C874-932AE9EB596C}"/>
              </a:ext>
            </a:extLst>
          </p:cNvPr>
          <p:cNvSpPr/>
          <p:nvPr/>
        </p:nvSpPr>
        <p:spPr>
          <a:xfrm>
            <a:off x="8597900" y="748506"/>
            <a:ext cx="3022600" cy="1511300"/>
          </a:xfrm>
          <a:prstGeom prst="roundRect">
            <a:avLst>
              <a:gd name="adj" fmla="val 11819"/>
            </a:avLst>
          </a:prstGeom>
          <a:solidFill>
            <a:srgbClr val="FFC000">
              <a:alpha val="596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WIP: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Nonlinear 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Estimate sector bounds for MPC</a:t>
            </a:r>
            <a:endParaRPr lang="en-US" sz="2200" dirty="0">
              <a:solidFill>
                <a:schemeClr val="bg1">
                  <a:lumMod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2D5FA97-2320-97F8-D137-31A0F3CD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39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86FCD28-60DD-67F1-D7CD-E400B1046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093" y="2326015"/>
            <a:ext cx="1003300" cy="254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3A642D3-D39D-C54A-3A84-EC42CC2DB9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4609" y="2401673"/>
            <a:ext cx="139700" cy="127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2B0F2D1-AE20-222E-51A5-2605F73ADE3C}"/>
              </a:ext>
            </a:extLst>
          </p:cNvPr>
          <p:cNvSpPr/>
          <p:nvPr/>
        </p:nvSpPr>
        <p:spPr>
          <a:xfrm>
            <a:off x="1288337" y="3645489"/>
            <a:ext cx="2325257" cy="2052858"/>
          </a:xfrm>
          <a:prstGeom prst="rect">
            <a:avLst/>
          </a:prstGeom>
          <a:solidFill>
            <a:schemeClr val="bg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Not able to </a:t>
            </a:r>
            <a:b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meet compute requirements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2F436B-D827-CE45-C761-08ED1BD8C4AC}"/>
              </a:ext>
            </a:extLst>
          </p:cNvPr>
          <p:cNvSpPr/>
          <p:nvPr/>
        </p:nvSpPr>
        <p:spPr>
          <a:xfrm>
            <a:off x="8973178" y="3645489"/>
            <a:ext cx="2326626" cy="2052858"/>
          </a:xfrm>
          <a:prstGeom prst="rect">
            <a:avLst/>
          </a:prstGeom>
          <a:solidFill>
            <a:schemeClr val="bg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Not able to guarantee </a:t>
            </a:r>
            <a:b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stability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4443DE-A7D3-08F4-C6A8-029E8E836E0D}"/>
              </a:ext>
            </a:extLst>
          </p:cNvPr>
          <p:cNvSpPr/>
          <p:nvPr/>
        </p:nvSpPr>
        <p:spPr>
          <a:xfrm>
            <a:off x="5746793" y="3645489"/>
            <a:ext cx="349208" cy="2052858"/>
          </a:xfrm>
          <a:prstGeom prst="rect">
            <a:avLst/>
          </a:prstGeom>
          <a:solidFill>
            <a:schemeClr val="accent6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2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750C61-C98F-8D04-3038-0111FAE34825}"/>
              </a:ext>
            </a:extLst>
          </p:cNvPr>
          <p:cNvSpPr/>
          <p:nvPr/>
        </p:nvSpPr>
        <p:spPr>
          <a:xfrm>
            <a:off x="5260312" y="3645489"/>
            <a:ext cx="491505" cy="2052858"/>
          </a:xfrm>
          <a:prstGeom prst="rect">
            <a:avLst/>
          </a:prstGeom>
          <a:solidFill>
            <a:schemeClr val="bg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22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71D9CC-CA64-20FF-3E0A-D50580E7C762}"/>
              </a:ext>
            </a:extLst>
          </p:cNvPr>
          <p:cNvSpPr/>
          <p:nvPr/>
        </p:nvSpPr>
        <p:spPr>
          <a:xfrm>
            <a:off x="6090977" y="3645489"/>
            <a:ext cx="1369924" cy="2052858"/>
          </a:xfrm>
          <a:prstGeom prst="rect">
            <a:avLst/>
          </a:prstGeom>
          <a:solidFill>
            <a:schemeClr val="bg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22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9259A6A-77F1-A751-7843-8EB3D9EBC1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6167" y="2257266"/>
            <a:ext cx="18415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774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EB268-5DD8-D4B4-8731-ABE48A95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7F890-85EA-A0A5-6FE9-508A624F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F7FAD-3BD4-FFC4-066B-90802ABA6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 and 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The design meta-problem</a:t>
            </a:r>
          </a:p>
          <a:p>
            <a:r>
              <a:rPr lang="en-US" dirty="0"/>
              <a:t>A simple example</a:t>
            </a:r>
          </a:p>
          <a:p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 step back</a:t>
            </a:r>
          </a:p>
          <a:p>
            <a:r>
              <a:rPr lang="en-US" dirty="0"/>
              <a:t>Conclusions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39DDC-A4A3-B25D-F02D-20252B8E5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825" y="1973872"/>
            <a:ext cx="3713084" cy="291025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20434-2CA7-4569-F369-DA04A6A1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1480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C00B-1690-30E6-6563-4698315C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step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06095-BE1E-3D7A-3972-0D077F028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How does this fit in the architecture story line?</a:t>
            </a:r>
          </a:p>
          <a:p>
            <a:r>
              <a:rPr lang="en-US" dirty="0"/>
              <a:t>Now, tradeoffs in design of </a:t>
            </a:r>
            <a:r>
              <a:rPr lang="en-US" i="1" dirty="0"/>
              <a:t>one </a:t>
            </a:r>
            <a:r>
              <a:rPr lang="en-US" dirty="0"/>
              <a:t>controller</a:t>
            </a:r>
          </a:p>
          <a:p>
            <a:pPr lvl="1"/>
            <a:r>
              <a:rPr lang="en-US" dirty="0"/>
              <a:t>What if DMP infeasible?</a:t>
            </a:r>
          </a:p>
        </p:txBody>
      </p:sp>
      <p:sp>
        <p:nvSpPr>
          <p:cNvPr id="7" name="p1">
            <a:extLst>
              <a:ext uri="{FF2B5EF4-FFF2-40B4-BE49-F238E27FC236}">
                <a16:creationId xmlns:a16="http://schemas.microsoft.com/office/drawing/2014/main" id="{2BA992FF-E291-F7AC-756D-3785236E874C}"/>
              </a:ext>
            </a:extLst>
          </p:cNvPr>
          <p:cNvSpPr/>
          <p:nvPr/>
        </p:nvSpPr>
        <p:spPr>
          <a:xfrm>
            <a:off x="2229928" y="4995914"/>
            <a:ext cx="2337759" cy="331468"/>
          </a:xfrm>
          <a:prstGeom prst="roundRect">
            <a:avLst>
              <a:gd name="adj" fmla="val 10893"/>
            </a:avLst>
          </a:prstGeom>
          <a:solidFill>
            <a:srgbClr val="FF000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00" dirty="0">
              <a:solidFill>
                <a:schemeClr val="tx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9" name="!!AR">
            <a:extLst>
              <a:ext uri="{FF2B5EF4-FFF2-40B4-BE49-F238E27FC236}">
                <a16:creationId xmlns:a16="http://schemas.microsoft.com/office/drawing/2014/main" id="{6362A164-E08B-C041-1A21-5F70111B4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440" y="1690688"/>
            <a:ext cx="4023360" cy="4389120"/>
          </a:xfrm>
          <a:prstGeom prst="rect">
            <a:avLst/>
          </a:prstGeom>
        </p:spPr>
      </p:pic>
      <p:sp>
        <p:nvSpPr>
          <p:cNvPr id="10" name="p1">
            <a:extLst>
              <a:ext uri="{FF2B5EF4-FFF2-40B4-BE49-F238E27FC236}">
                <a16:creationId xmlns:a16="http://schemas.microsoft.com/office/drawing/2014/main" id="{04055647-4B4F-1284-7995-2F74044B1C0C}"/>
              </a:ext>
            </a:extLst>
          </p:cNvPr>
          <p:cNvSpPr/>
          <p:nvPr/>
        </p:nvSpPr>
        <p:spPr>
          <a:xfrm>
            <a:off x="2229928" y="4156924"/>
            <a:ext cx="4023360" cy="794110"/>
          </a:xfrm>
          <a:prstGeom prst="roundRect">
            <a:avLst>
              <a:gd name="adj" fmla="val 10893"/>
            </a:avLst>
          </a:prstGeom>
          <a:solidFill>
            <a:srgbClr val="FF0000">
              <a:alpha val="1995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00" dirty="0">
              <a:solidFill>
                <a:schemeClr val="tx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F728F-6A0A-67C7-C8B1-81FB38421C15}"/>
              </a:ext>
            </a:extLst>
          </p:cNvPr>
          <p:cNvSpPr txBox="1"/>
          <p:nvPr/>
        </p:nvSpPr>
        <p:spPr>
          <a:xfrm>
            <a:off x="1583597" y="472535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⚡️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2A634FB-23E1-98CA-B19C-63E295B1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41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0DD98-578C-8113-EF2D-532F61DC0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87481"/>
            <a:ext cx="53213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7403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E253C-42DF-BD19-69C1-D67C7440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BD92-9BCF-DF2B-FDB9-3191CF8D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step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D3A75-8499-638F-8166-39F603D98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How does this fit in the architecture story line?</a:t>
            </a:r>
          </a:p>
          <a:p>
            <a:r>
              <a:rPr lang="en-US" dirty="0"/>
              <a:t>Now, tradeoffs in design of </a:t>
            </a:r>
            <a:r>
              <a:rPr lang="en-US" i="1" dirty="0"/>
              <a:t>one </a:t>
            </a:r>
            <a:r>
              <a:rPr lang="en-US" dirty="0"/>
              <a:t>controller</a:t>
            </a:r>
          </a:p>
          <a:p>
            <a:pPr lvl="1"/>
            <a:r>
              <a:rPr lang="en-US" dirty="0"/>
              <a:t>What if DMP infeasible?</a:t>
            </a:r>
          </a:p>
          <a:p>
            <a:endParaRPr lang="en-US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Divide up resources between layers!</a:t>
            </a:r>
          </a:p>
          <a:p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Multiple time-scales, levels of complexity, etc.</a:t>
            </a:r>
          </a:p>
          <a:p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Each layer its own DMP</a:t>
            </a:r>
          </a:p>
          <a:p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How to design the ‘</a:t>
            </a:r>
            <a:r>
              <a:rPr lang="en-US" dirty="0">
                <a:cs typeface="Helvetica Neue Medium" panose="02000503000000020004" pitchFamily="2" charset="0"/>
              </a:rPr>
              <a:t>best’ </a:t>
            </a: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architecture?</a:t>
            </a:r>
          </a:p>
          <a:p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Joint design of layers:</a:t>
            </a:r>
          </a:p>
          <a:p>
            <a:pPr lvl="1"/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Co-designing layered control architectures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E22D29D-CFC4-90D0-C4C0-C26C31B47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42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AC5DF0-71A2-F7D7-0AC8-915D9A93D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440" y="1690688"/>
            <a:ext cx="40233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117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FF3F2-CEA7-4E71-8F88-9217D93C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DA07E-2681-19D8-AA15-97937CF56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step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D3DE3-9E68-A167-4F7B-82155F1E1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 (preliminary) simple example</a:t>
            </a:r>
          </a:p>
          <a:p>
            <a:r>
              <a:rPr lang="en-US" dirty="0"/>
              <a:t>Discrete-time LTI plant</a:t>
            </a:r>
          </a:p>
          <a:p>
            <a:r>
              <a:rPr lang="en-US" dirty="0"/>
              <a:t>Control architecture:</a:t>
            </a:r>
          </a:p>
          <a:p>
            <a:pPr lvl="1"/>
            <a:r>
              <a:rPr lang="en-US" dirty="0"/>
              <a:t>Low layer: state feedback</a:t>
            </a:r>
          </a:p>
          <a:p>
            <a:pPr lvl="1"/>
            <a:r>
              <a:rPr lang="en-US" dirty="0"/>
              <a:t>High layer: MPC controller (</a:t>
            </a:r>
            <a:r>
              <a:rPr lang="en-US" i="1" dirty="0">
                <a:solidFill>
                  <a:srgbClr val="B70722"/>
                </a:solidFill>
                <a:latin typeface="LM Roman 9" pitchFamily="2" charset="77"/>
              </a:rPr>
              <a:t>N</a:t>
            </a:r>
            <a:r>
              <a:rPr lang="en-US" baseline="-25000" dirty="0">
                <a:solidFill>
                  <a:srgbClr val="B70722"/>
                </a:solidFill>
                <a:latin typeface="LM Roman 9" pitchFamily="2" charset="77"/>
              </a:rPr>
              <a:t>r</a:t>
            </a:r>
            <a:r>
              <a:rPr lang="en-US" dirty="0"/>
              <a:t> times slower)</a:t>
            </a:r>
          </a:p>
          <a:p>
            <a:r>
              <a:rPr lang="en-US" dirty="0"/>
              <a:t>How to choose planner model, constraint sets, </a:t>
            </a:r>
            <a:br>
              <a:rPr lang="en-US" dirty="0"/>
            </a:br>
            <a:r>
              <a:rPr lang="en-US" dirty="0"/>
              <a:t>ratio between timescales?</a:t>
            </a:r>
          </a:p>
          <a:p>
            <a:r>
              <a:rPr lang="en-US" dirty="0"/>
              <a:t>Desired specs of control system?</a:t>
            </a:r>
          </a:p>
          <a:p>
            <a:pPr lvl="1"/>
            <a:r>
              <a:rPr lang="en-US" dirty="0"/>
              <a:t>Accuracy? Speed? Cheap implementation?</a:t>
            </a:r>
          </a:p>
          <a:p>
            <a:pPr lvl="1"/>
            <a:r>
              <a:rPr lang="en-US" i="1" dirty="0"/>
              <a:t>Cannot have it all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42346B7-CF38-FA28-A1A7-BB9929111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43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18EBB4-0602-277B-B796-7337588E3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440" y="1690688"/>
            <a:ext cx="40233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786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3D744-74F9-9C9B-BBBB-3582097F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D3BC2-7ADC-6764-D5A8-095D79B1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step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9D00A-1205-0BCA-1155-B08ECE32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 preliminary, simple example</a:t>
            </a:r>
          </a:p>
          <a:p>
            <a:r>
              <a:rPr lang="en-US" dirty="0"/>
              <a:t>Architecture co-design problem: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Traces Pareto front</a:t>
            </a:r>
          </a:p>
          <a:p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Similar structure as design meta-problem!</a:t>
            </a:r>
          </a:p>
          <a:p>
            <a:pPr lvl="1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Current </a:t>
            </a:r>
            <a:r>
              <a:rPr lang="en-US" b="1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</a:rPr>
              <a:t>?</a:t>
            </a: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</a:t>
            </a:r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How to generalize DMP for </a:t>
            </a:r>
            <a:b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</a:br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architecture design?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85B14CC-212E-1988-3EED-2310EDB3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44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15EAE7-1050-2F37-11DF-D014A5BC6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440" y="1690688"/>
            <a:ext cx="4023360" cy="438912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71C212A-EFA0-3C9C-26FE-0645092E7B6F}"/>
              </a:ext>
            </a:extLst>
          </p:cNvPr>
          <p:cNvGrpSpPr/>
          <p:nvPr/>
        </p:nvGrpSpPr>
        <p:grpSpPr>
          <a:xfrm>
            <a:off x="889000" y="2628900"/>
            <a:ext cx="6857999" cy="1959830"/>
            <a:chOff x="685800" y="2565400"/>
            <a:chExt cx="6857999" cy="195983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5844035-B295-A075-C91B-C35AC81D84B3}"/>
                </a:ext>
              </a:extLst>
            </p:cNvPr>
            <p:cNvSpPr/>
            <p:nvPr/>
          </p:nvSpPr>
          <p:spPr>
            <a:xfrm>
              <a:off x="685800" y="2565400"/>
              <a:ext cx="6857999" cy="1959830"/>
            </a:xfrm>
            <a:prstGeom prst="roundRect">
              <a:avLst>
                <a:gd name="adj" fmla="val 10123"/>
              </a:avLst>
            </a:prstGeom>
            <a:solidFill>
              <a:srgbClr val="92D050">
                <a:alpha val="5961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200" i="1" dirty="0">
                <a:solidFill>
                  <a:schemeClr val="tx1"/>
                </a:solidFill>
                <a:latin typeface="LM Roman 10" pitchFamily="2" charset="77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5A06839-0986-3446-6042-ECD852A76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1849" y="2611865"/>
              <a:ext cx="6565900" cy="1866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93416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B7193-3264-FA40-3127-C2C406D9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D9C3-B863-F5E5-3DF1-B2761A382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step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F32FF-BF73-009F-EE1A-1C341F5C8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Some </a:t>
            </a:r>
            <a:r>
              <a:rPr lang="en-US" dirty="0" err="1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numerics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:</a:t>
            </a:r>
          </a:p>
          <a:p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Plant: chain of stable integrators</a:t>
            </a:r>
          </a:p>
          <a:p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Planner model</a:t>
            </a:r>
            <a:r>
              <a:rPr lang="en-US" dirty="0">
                <a:cs typeface="Helvetica Neue Medium" panose="02000503000000020004" pitchFamily="2" charset="0"/>
              </a:rPr>
              <a:t>: Ap = A[:</a:t>
            </a:r>
            <a:r>
              <a:rPr lang="en-US" dirty="0" err="1">
                <a:cs typeface="Helvetica Neue Medium" panose="02000503000000020004" pitchFamily="2" charset="0"/>
              </a:rPr>
              <a:t>ny</a:t>
            </a:r>
            <a:r>
              <a:rPr lang="en-US" dirty="0">
                <a:cs typeface="Helvetica Neue Medium" panose="02000503000000020004" pitchFamily="2" charset="0"/>
              </a:rPr>
              <a:t>, :</a:t>
            </a:r>
            <a:r>
              <a:rPr lang="en-US" dirty="0" err="1">
                <a:cs typeface="Helvetica Neue Medium" panose="02000503000000020004" pitchFamily="2" charset="0"/>
              </a:rPr>
              <a:t>ny</a:t>
            </a:r>
            <a:r>
              <a:rPr lang="en-US" dirty="0">
                <a:cs typeface="Helvetica Neue Medium" panose="02000503000000020004" pitchFamily="2" charset="0"/>
              </a:rPr>
              <a:t>]</a:t>
            </a:r>
          </a:p>
          <a:p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‘Solve’ on dense grid </a:t>
            </a:r>
            <a:r>
              <a:rPr lang="en-US" i="1" dirty="0" err="1">
                <a:latin typeface="LM Roman 7" pitchFamily="2" charset="77"/>
                <a:cs typeface="Helvetica Neue Medium" panose="02000503000000020004" pitchFamily="2" charset="0"/>
              </a:rPr>
              <a:t>n</a:t>
            </a:r>
            <a:r>
              <a:rPr lang="en-US" baseline="-25000" dirty="0" err="1">
                <a:latin typeface="LM Roman 7" pitchFamily="2" charset="77"/>
                <a:cs typeface="Helvetica Neue Medium" panose="02000503000000020004" pitchFamily="2" charset="0"/>
              </a:rPr>
              <a:t>y</a:t>
            </a:r>
            <a:r>
              <a:rPr lang="en-US" i="1" dirty="0" err="1">
                <a:latin typeface="LM Roman 7" pitchFamily="2" charset="77"/>
                <a:cs typeface="Helvetica Neue Medium" panose="02000503000000020004" pitchFamily="2" charset="0"/>
              </a:rPr>
              <a:t>×N</a:t>
            </a:r>
            <a:r>
              <a:rPr lang="en-US" baseline="-25000" dirty="0" err="1">
                <a:latin typeface="LM Roman 7" pitchFamily="2" charset="77"/>
                <a:cs typeface="Helvetica Neue Medium" panose="02000503000000020004" pitchFamily="2" charset="0"/>
              </a:rPr>
              <a:t>r</a:t>
            </a:r>
            <a:endParaRPr lang="en-US" baseline="-25000" dirty="0">
              <a:latin typeface="LM Roman 7" pitchFamily="2" charset="77"/>
              <a:cs typeface="Helvetica Neue Medium" panose="02000503000000020004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AD4D9A-387E-F954-85CC-49442BD04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25" y="3665753"/>
            <a:ext cx="6565900" cy="186690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2E46A99-C058-0A43-EE52-D24D0B08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45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0328B-D1EC-7392-7BC6-E0A70CCA0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861" y="0"/>
            <a:ext cx="45871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319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1391-8157-235F-5DF9-A1320D0F9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3932E29-1DE0-55F3-9F75-736F4A28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Sept. 23, 2026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478552C-4EC7-5ED5-37CB-7F53676D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EB821-144F-AF98-265F-6A8292E5D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861" y="0"/>
            <a:ext cx="4587139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A71794-8276-3AE2-6B1A-937C2D667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64530" cy="68610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2397EB-C074-42BA-EE56-3406F4B1D4EB}"/>
              </a:ext>
            </a:extLst>
          </p:cNvPr>
          <p:cNvSpPr txBox="1"/>
          <p:nvPr/>
        </p:nvSpPr>
        <p:spPr>
          <a:xfrm>
            <a:off x="5664530" y="136525"/>
            <a:ext cx="1710047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Focus on:</a:t>
            </a:r>
          </a:p>
          <a:p>
            <a:pPr algn="ctr">
              <a:spcBef>
                <a:spcPts val="1200"/>
              </a:spcBef>
            </a:pPr>
            <a: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← Accuracy</a:t>
            </a: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>
              <a:spcBef>
                <a:spcPts val="1200"/>
              </a:spcBef>
            </a:pPr>
            <a: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← Speed</a:t>
            </a: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/>
            <a: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← Compute</a:t>
            </a: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/>
            <a:endParaRPr lang="en-US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ctr"/>
            <a: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← Weighted</a:t>
            </a:r>
            <a:b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tradeoff</a:t>
            </a:r>
          </a:p>
        </p:txBody>
      </p:sp>
    </p:spTree>
    <p:extLst>
      <p:ext uri="{BB962C8B-B14F-4D97-AF65-F5344CB8AC3E}">
        <p14:creationId xmlns:p14="http://schemas.microsoft.com/office/powerpoint/2010/main" val="3951841748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1C390-B19C-B963-0159-2E73BFB1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36FC8-DBC3-B494-B375-A25D338E7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Compositionality:</a:t>
            </a:r>
            <a:r>
              <a:rPr lang="en-US" dirty="0"/>
              <a:t> </a:t>
            </a:r>
            <a:r>
              <a:rPr lang="en-US" i="1" dirty="0"/>
              <a:t>Same concept, different interface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24746-CCAD-8637-4569-CDB1931B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47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B15F83-3103-C32D-85B6-D251BF020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228" y="2293262"/>
            <a:ext cx="3671316" cy="4005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159D35-F8C6-4060-6C56-08FD2C760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456" y="2293262"/>
            <a:ext cx="3671316" cy="4005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9F45C6-48EE-1770-BEC5-7F7E41B849C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164223" y="2796620"/>
            <a:ext cx="2145475" cy="202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0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2443E-D0E6-4BEC-A3DA-66AEDD04E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E53C-C132-46AC-DADE-9C33567D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AAF74-72D7-9C3F-9840-42130644C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 and 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The design meta-problem</a:t>
            </a:r>
          </a:p>
          <a:p>
            <a:r>
              <a:rPr lang="en-US" dirty="0"/>
              <a:t>A simple example</a:t>
            </a:r>
          </a:p>
          <a:p>
            <a:r>
              <a:rPr lang="en-US" dirty="0"/>
              <a:t>A step back</a:t>
            </a:r>
          </a:p>
          <a:p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Conclusions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E07D0-40CA-04F8-0BD5-09719DC1D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825" y="1973872"/>
            <a:ext cx="3713084" cy="291025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58BEA-DFDE-8509-25EF-17E72C0F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08429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CBE2-CA18-3936-5B9B-2A38FD6C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2DBD5-F592-E139-BB48-B0E846993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is a fundamental aspect in control architecture design</a:t>
            </a:r>
          </a:p>
          <a:p>
            <a:r>
              <a:rPr lang="en-US" dirty="0"/>
              <a:t>Systematic framework for navigating tradeoffs in control design </a:t>
            </a:r>
            <a:br>
              <a:rPr lang="en-US" dirty="0"/>
            </a:br>
            <a:r>
              <a:rPr lang="en-US" dirty="0"/>
              <a:t>subject to explicit compute constraints</a:t>
            </a:r>
          </a:p>
          <a:p>
            <a:r>
              <a:rPr lang="en-US" dirty="0"/>
              <a:t>Design meta-problem for reasoning </a:t>
            </a:r>
            <a:r>
              <a:rPr lang="en-US" i="1" dirty="0"/>
              <a:t>about </a:t>
            </a:r>
            <a:r>
              <a:rPr lang="en-US" dirty="0"/>
              <a:t>the design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Outlook:</a:t>
            </a:r>
          </a:p>
          <a:p>
            <a:r>
              <a:rPr lang="en-US" dirty="0"/>
              <a:t>Functional forms of sector bounds beyond LTI</a:t>
            </a:r>
          </a:p>
          <a:p>
            <a:r>
              <a:rPr lang="en-US" dirty="0"/>
              <a:t>Development of sampling-based estimation of </a:t>
            </a:r>
            <a:r>
              <a:rPr lang="en-US" i="1" dirty="0">
                <a:latin typeface="LM Roman 8" pitchFamily="2" charset="77"/>
              </a:rPr>
              <a:t>L</a:t>
            </a:r>
            <a:r>
              <a:rPr lang="en-US" dirty="0"/>
              <a:t>’s</a:t>
            </a:r>
          </a:p>
          <a:p>
            <a:r>
              <a:rPr lang="en-US" dirty="0"/>
              <a:t>How can this theory assist in systematic layered </a:t>
            </a:r>
            <a:br>
              <a:rPr lang="en-US" dirty="0"/>
            </a:br>
            <a:r>
              <a:rPr lang="en-US" dirty="0"/>
              <a:t>control architecture design?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CF4F7D-C8B0-90F5-9FEC-E0BC9ADAD5AB}"/>
              </a:ext>
            </a:extLst>
          </p:cNvPr>
          <p:cNvGrpSpPr/>
          <p:nvPr/>
        </p:nvGrpSpPr>
        <p:grpSpPr>
          <a:xfrm>
            <a:off x="7786226" y="2770135"/>
            <a:ext cx="4037302" cy="3406828"/>
            <a:chOff x="3155233" y="2217225"/>
            <a:chExt cx="4037302" cy="3406828"/>
          </a:xfrm>
        </p:grpSpPr>
        <p:sp>
          <p:nvSpPr>
            <p:cNvPr id="5" name="!!ShapeForMorph">
              <a:extLst>
                <a:ext uri="{FF2B5EF4-FFF2-40B4-BE49-F238E27FC236}">
                  <a16:creationId xmlns:a16="http://schemas.microsoft.com/office/drawing/2014/main" id="{3226C389-6799-2043-E357-128FA32741DC}"/>
                </a:ext>
              </a:extLst>
            </p:cNvPr>
            <p:cNvSpPr/>
            <p:nvPr/>
          </p:nvSpPr>
          <p:spPr>
            <a:xfrm>
              <a:off x="3155233" y="2217225"/>
              <a:ext cx="4037302" cy="3406828"/>
            </a:xfrm>
            <a:prstGeom prst="roundRect">
              <a:avLst>
                <a:gd name="adj" fmla="val 8050"/>
              </a:avLst>
            </a:prstGeom>
            <a:solidFill>
              <a:srgbClr val="00B0F0">
                <a:alpha val="1995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Paper: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  <a:ea typeface="Helvetica Neue Light" panose="02000403000000020004" pitchFamily="2" charset="0"/>
                  <a:cs typeface="Consolas" panose="020B0609020204030204" pitchFamily="49" charset="0"/>
                </a:rPr>
                <a:t>chrisverhoek.com/tradeoffs</a:t>
              </a:r>
              <a:endParaRPr lang="en-US" sz="22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2200" dirty="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Or scan: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0257301-A79A-6AFF-5E55-6405EE894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4171403" y="3429000"/>
              <a:ext cx="2004961" cy="2004961"/>
            </a:xfrm>
            <a:prstGeom prst="rect">
              <a:avLst/>
            </a:prstGeom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F80FF-C1F4-3EC2-1A19-F18913AD9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6057-9092-A945-AE43-3FDE071B5E72}" type="slidenum">
              <a:rPr lang="en-US" smtClean="0"/>
              <a:t>49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0E8948-7FE5-461C-A236-18F11D919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599" y="829580"/>
            <a:ext cx="2197309" cy="172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34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814B9F59-EF6B-D94B-996A-432C6096BAFB}" vid="{C359EFBC-1230-F047-AE94-911BDA59E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11050</TotalTime>
  <Words>2039</Words>
  <Application>Microsoft Macintosh PowerPoint</Application>
  <PresentationFormat>Widescreen</PresentationFormat>
  <Paragraphs>473</Paragraphs>
  <Slides>49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5" baseType="lpstr">
      <vt:lpstr>Aptos</vt:lpstr>
      <vt:lpstr>Arial</vt:lpstr>
      <vt:lpstr>Cambria Math</vt:lpstr>
      <vt:lpstr>Consolas</vt:lpstr>
      <vt:lpstr>Helvetica Neue</vt:lpstr>
      <vt:lpstr>Helvetica Neue Light</vt:lpstr>
      <vt:lpstr>Helvetica Neue Medium</vt:lpstr>
      <vt:lpstr>Helvetica Neue Thin</vt:lpstr>
      <vt:lpstr>LM Roman 10</vt:lpstr>
      <vt:lpstr>LM Roman 12</vt:lpstr>
      <vt:lpstr>LM Roman 7</vt:lpstr>
      <vt:lpstr>LM Roman 8</vt:lpstr>
      <vt:lpstr>LM Roman 9</vt:lpstr>
      <vt:lpstr>STIX Two Text</vt:lpstr>
      <vt:lpstr>Wingdings</vt:lpstr>
      <vt:lpstr>Office Theme</vt:lpstr>
      <vt:lpstr>Navigating Controller Design Tradeoffs under Computational Constraints</vt:lpstr>
      <vt:lpstr>PowerPoint Presentation</vt:lpstr>
      <vt:lpstr>PowerPoint Presentation</vt:lpstr>
      <vt:lpstr>PowerPoint Presentation</vt:lpstr>
      <vt:lpstr>Motivation and introduction</vt:lpstr>
      <vt:lpstr>Motivation and introduction</vt:lpstr>
      <vt:lpstr>Contents</vt:lpstr>
      <vt:lpstr>Problem statement</vt:lpstr>
      <vt:lpstr>Problem statement</vt:lpstr>
      <vt:lpstr>Problem statement</vt:lpstr>
      <vt:lpstr>Problem statement</vt:lpstr>
      <vt:lpstr>Problem statement</vt:lpstr>
      <vt:lpstr>Problem statement</vt:lpstr>
      <vt:lpstr>Problem statement</vt:lpstr>
      <vt:lpstr>Problem statement</vt:lpstr>
      <vt:lpstr>Contents</vt:lpstr>
      <vt:lpstr>The design meta-problem</vt:lpstr>
      <vt:lpstr>The design meta-problem</vt:lpstr>
      <vt:lpstr>The design meta-problem</vt:lpstr>
      <vt:lpstr>The design meta-problem</vt:lpstr>
      <vt:lpstr>The design meta-problem</vt:lpstr>
      <vt:lpstr>The design meta-problem</vt:lpstr>
      <vt:lpstr>The design meta-problem</vt:lpstr>
      <vt:lpstr>The design meta-problem</vt:lpstr>
      <vt:lpstr>The design meta-problem</vt:lpstr>
      <vt:lpstr>The design meta-problem</vt:lpstr>
      <vt:lpstr>The design meta-problem</vt:lpstr>
      <vt:lpstr>Incremental input-to-state stability</vt:lpstr>
      <vt:lpstr>Incremental input-to-state stability</vt:lpstr>
      <vt:lpstr>Formalizing the design meta-problem</vt:lpstr>
      <vt:lpstr>Incremental input-to-state stability</vt:lpstr>
      <vt:lpstr>Incremental input-to-state stability</vt:lpstr>
      <vt:lpstr>Formalizing the design meta-problem</vt:lpstr>
      <vt:lpstr>Formalizing the design meta-problem</vt:lpstr>
      <vt:lpstr>Formalizing the design meta-problem</vt:lpstr>
      <vt:lpstr>Contents</vt:lpstr>
      <vt:lpstr>A simple example</vt:lpstr>
      <vt:lpstr>A simple example</vt:lpstr>
      <vt:lpstr>A simple example</vt:lpstr>
      <vt:lpstr>Contents</vt:lpstr>
      <vt:lpstr>A step back</vt:lpstr>
      <vt:lpstr>A step back</vt:lpstr>
      <vt:lpstr>A step back</vt:lpstr>
      <vt:lpstr>A step back</vt:lpstr>
      <vt:lpstr>A step back</vt:lpstr>
      <vt:lpstr>PowerPoint Presentation</vt:lpstr>
      <vt:lpstr>Outlook</vt:lpstr>
      <vt:lpstr>Contents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Verhoek, Chris</dc:creator>
  <cp:lastModifiedBy>Matni, Nikolai</cp:lastModifiedBy>
  <cp:revision>134</cp:revision>
  <dcterms:created xsi:type="dcterms:W3CDTF">2026-09-02T14:27:00Z</dcterms:created>
  <dcterms:modified xsi:type="dcterms:W3CDTF">2026-09-25T16:37:43Z</dcterms:modified>
</cp:coreProperties>
</file>